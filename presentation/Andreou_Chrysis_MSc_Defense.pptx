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4"/>
  </p:normalViewPr>
  <p:slideViewPr>
    <p:cSldViewPr snapToGrid="0" snapToObjects="1">
      <p:cViewPr varScale="1">
        <p:scale>
          <a:sx n="149" d="100"/>
          <a:sy n="149" d="100"/>
        </p:scale>
        <p:origin x="192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73.xml"/><Relationship Id="rId3" Type="http://schemas.openxmlformats.org/officeDocument/2006/relationships/slide" Target="slide8.xml"/><Relationship Id="rId7" Type="http://schemas.openxmlformats.org/officeDocument/2006/relationships/slide" Target="slide4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0.xml"/><Relationship Id="rId5" Type="http://schemas.openxmlformats.org/officeDocument/2006/relationships/slide" Target="slide28.xml"/><Relationship Id="rId4" Type="http://schemas.openxmlformats.org/officeDocument/2006/relationships/slide" Target="slide24.xml"/><Relationship Id="rId9" Type="http://schemas.openxmlformats.org/officeDocument/2006/relationships/slide" Target="slide7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7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8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1 / 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2236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 dirty="0">
                <a:solidFill>
                  <a:srgbClr val="FF0000"/>
                </a:solidFill>
                <a:latin typeface="Calibri"/>
              </a:rPr>
              <a:t>SE(3)-Equivariant Dual Quaternion</a:t>
            </a:r>
          </a:p>
          <a:p>
            <a:pPr algn="l">
              <a:spcAft>
                <a:spcPts val="800"/>
              </a:spcAft>
            </a:pPr>
            <a:r>
              <a:rPr sz="4400" b="1" dirty="0">
                <a:solidFill>
                  <a:srgbClr val="FF0000"/>
                </a:solidFill>
                <a:latin typeface="Calibri"/>
              </a:rPr>
              <a:t>Graph Neural Networks</a:t>
            </a:r>
          </a:p>
          <a:p>
            <a:pPr algn="l">
              <a:spcAft>
                <a:spcPts val="800"/>
              </a:spcAft>
            </a:pPr>
            <a:r>
              <a:rPr sz="4400" b="1" dirty="0">
                <a:solidFill>
                  <a:srgbClr val="FF0000"/>
                </a:solidFill>
                <a:latin typeface="Calibri"/>
              </a:rPr>
              <a:t>for Human Motion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Chrysis Andreou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MSc Thesis Defense   |   University of Cyprus   |   June 2026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Supervisor:  </a:t>
            </a:r>
            <a:r>
              <a:rPr sz="2000" b="1">
                <a:solidFill>
                  <a:srgbClr val="FFFFFF"/>
                </a:solidFill>
                <a:latin typeface="Calibri"/>
              </a:rPr>
              <a:t>Andreas Aristidou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2 / 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448495" cy="4165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u="none" dirty="0">
                <a:solidFill>
                  <a:schemeClr val="bg1"/>
                </a:solidFill>
                <a:latin typeface="Calibri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 Introduction</a:t>
            </a:r>
          </a:p>
          <a:p>
            <a:pPr algn="l">
              <a:spcAft>
                <a:spcPts val="800"/>
              </a:spcAft>
            </a:pPr>
            <a:r>
              <a:rPr sz="2800" b="1" u="none" dirty="0">
                <a:solidFill>
                  <a:schemeClr val="bg1"/>
                </a:solidFill>
                <a:latin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 Background</a:t>
            </a:r>
          </a:p>
          <a:p>
            <a:pPr algn="l">
              <a:spcAft>
                <a:spcPts val="800"/>
              </a:spcAft>
            </a:pPr>
            <a:r>
              <a:rPr sz="2800" b="1" u="none" dirty="0">
                <a:solidFill>
                  <a:schemeClr val="bg1"/>
                </a:solidFill>
                <a:latin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  Related Work</a:t>
            </a:r>
          </a:p>
          <a:p>
            <a:pPr algn="l">
              <a:spcAft>
                <a:spcPts val="800"/>
              </a:spcAft>
            </a:pPr>
            <a:r>
              <a:rPr sz="2800" b="1" u="none" dirty="0">
                <a:solidFill>
                  <a:schemeClr val="bg1"/>
                </a:solidFill>
                <a:latin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4.  Method</a:t>
            </a:r>
          </a:p>
          <a:p>
            <a:pPr algn="l">
              <a:spcAft>
                <a:spcPts val="800"/>
              </a:spcAft>
            </a:pPr>
            <a:r>
              <a:rPr sz="2800" b="1" u="none" dirty="0">
                <a:solidFill>
                  <a:schemeClr val="bg1"/>
                </a:solidFill>
                <a:latin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5.  Experimental Setup</a:t>
            </a:r>
          </a:p>
          <a:p>
            <a:pPr algn="l">
              <a:spcAft>
                <a:spcPts val="800"/>
              </a:spcAft>
            </a:pPr>
            <a:r>
              <a:rPr sz="2800" b="1" u="none" dirty="0">
                <a:solidFill>
                  <a:schemeClr val="bg1"/>
                </a:solidFill>
                <a:latin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6.  Results</a:t>
            </a:r>
          </a:p>
          <a:p>
            <a:pPr algn="l">
              <a:spcAft>
                <a:spcPts val="800"/>
              </a:spcAft>
            </a:pPr>
            <a:r>
              <a:rPr sz="2800" b="1" u="none" dirty="0">
                <a:solidFill>
                  <a:schemeClr val="bg1"/>
                </a:solidFill>
                <a:latin typeface="Calibri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7.  Discussion</a:t>
            </a:r>
          </a:p>
          <a:p>
            <a:pPr algn="l">
              <a:spcAft>
                <a:spcPts val="800"/>
              </a:spcAft>
            </a:pPr>
            <a:r>
              <a:rPr sz="2800" b="1" u="none" dirty="0">
                <a:solidFill>
                  <a:schemeClr val="bg1"/>
                </a:solidFill>
                <a:latin typeface="Calibri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8.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3 / 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51782"/>
            <a:ext cx="3657600" cy="21544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000" b="1" dirty="0">
                <a:solidFill>
                  <a:srgbClr val="FF0000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3013055"/>
            <a:ext cx="640080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1" dirty="0">
                <a:solidFill>
                  <a:srgbClr val="FF0000"/>
                </a:solidFill>
                <a:latin typeface="Calibri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1.1  </a:t>
            </a:r>
            <a:r>
              <a:rPr lang="en-US" sz="3600" b="1" dirty="0">
                <a:solidFill>
                  <a:srgbClr val="FF0000"/>
                </a:solidFill>
                <a:latin typeface="Calibri"/>
              </a:rPr>
              <a:t>Human</a:t>
            </a:r>
            <a:r>
              <a:rPr lang="en-US" sz="3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Motion Prediction Is a Skeleton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4 / 81</a:t>
            </a:r>
          </a:p>
        </p:txBody>
      </p:sp>
      <p:pic>
        <p:nvPicPr>
          <p:cNvPr id="5" name="Picture 4" descr="fig_skele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555140"/>
            <a:ext cx="4754880" cy="4296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463040"/>
            <a:ext cx="6400800" cy="2410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dirty="0">
                <a:solidFill>
                  <a:schemeClr val="bg1"/>
                </a:solidFill>
                <a:latin typeface="Calibri"/>
              </a:rPr>
              <a:t>Human motion prediction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 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forecasts future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body poses 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from a short observation of past motion.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A 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skeleton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is a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graph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800" b="1" dirty="0">
                <a:solidFill>
                  <a:srgbClr val="FF0000"/>
                </a:solidFill>
                <a:latin typeface="Calibri"/>
              </a:rPr>
              <a:t>Joints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are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nodes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. 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Bones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are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edges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1.2  The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Hidden Issue 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Is the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Coordinate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5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0882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0000"/>
                </a:solidFill>
                <a:latin typeface="Calibri"/>
              </a:rPr>
              <a:t>Standard methods represent 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each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joint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as a 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3D position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in the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world frame.</a:t>
            </a:r>
          </a:p>
          <a:p>
            <a:pPr algn="l">
              <a:spcAft>
                <a:spcPts val="1000"/>
              </a:spcAft>
            </a:pPr>
            <a:r>
              <a:rPr sz="2800" b="1" dirty="0">
                <a:solidFill>
                  <a:srgbClr val="FF0000"/>
                </a:solidFill>
                <a:latin typeface="Calibri"/>
              </a:rPr>
              <a:t>Rotating or translating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the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world frame changes the input numbers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(For example,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moving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the capture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sensor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.)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The 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physical motion is unchanged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: the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person is still walking the same way.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The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model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may still produce a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different prediction.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Standard benchmark 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evaluation does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not expose this.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1.3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Our Approach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SE(3) Equivariance by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6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39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dirty="0">
                <a:solidFill>
                  <a:srgbClr val="FF0000"/>
                </a:solidFill>
                <a:latin typeface="Calibri"/>
              </a:rPr>
              <a:t>Goal:  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a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graph layer whose output transforms exactly with the input frame.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Two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ingredients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are needed.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Value type. 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A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unit dual quaternion 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carries the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full SE(3) symmetry (rotation plus translation).</a:t>
            </a:r>
          </a:p>
          <a:p>
            <a:pPr algn="l">
              <a:spcAft>
                <a:spcPts val="1000"/>
              </a:spcAft>
            </a:pPr>
            <a:r>
              <a:rPr sz="2800" b="1" dirty="0">
                <a:solidFill>
                  <a:srgbClr val="FF0000"/>
                </a:solidFill>
                <a:latin typeface="Calibri"/>
              </a:rPr>
              <a:t>Layer template.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Equivariant graph message passing 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whose updates preserve the symmetry.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We combine both 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with the </a:t>
            </a:r>
            <a:r>
              <a:rPr sz="2800" b="1" dirty="0" err="1">
                <a:solidFill>
                  <a:schemeClr val="bg1"/>
                </a:solidFill>
                <a:latin typeface="Calibri"/>
              </a:rPr>
              <a:t>GGMotion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 backbone to build </a:t>
            </a:r>
            <a:r>
              <a:rPr sz="2800" b="1" dirty="0" err="1">
                <a:solidFill>
                  <a:srgbClr val="FF0000"/>
                </a:solidFill>
                <a:latin typeface="Calibri"/>
              </a:rPr>
              <a:t>GGMotion-DQPose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1.4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Contributions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7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4832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FF0000"/>
                </a:solidFill>
                <a:latin typeface="Calibri"/>
              </a:rPr>
              <a:t>1.  Reproduction of the </a:t>
            </a:r>
            <a:r>
              <a:rPr sz="2400" b="1" dirty="0" err="1">
                <a:solidFill>
                  <a:srgbClr val="FF0000"/>
                </a:solidFill>
                <a:latin typeface="Calibri"/>
              </a:rPr>
              <a:t>GGMotion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 backbone.</a:t>
            </a:r>
          </a:p>
          <a:p>
            <a:pPr algn="l">
              <a:spcAft>
                <a:spcPts val="1000"/>
              </a:spcAft>
            </a:pPr>
            <a:r>
              <a:rPr sz="2400" b="0" dirty="0" err="1">
                <a:solidFill>
                  <a:srgbClr val="FF0000"/>
                </a:solidFill>
                <a:latin typeface="Calibri"/>
              </a:rPr>
              <a:t>GGMotion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-XYZ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as a controlled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position-based baseline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. 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35.3 mm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at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400 </a:t>
            </a:r>
            <a:r>
              <a:rPr sz="2400" b="0" dirty="0" err="1">
                <a:solidFill>
                  <a:srgbClr val="FF0000"/>
                </a:solidFill>
                <a:latin typeface="Calibri"/>
              </a:rPr>
              <a:t>ms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, within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0.6 mm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of the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published 34.7 mm.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2.  A DQ-native </a:t>
            </a:r>
            <a:r>
              <a:rPr sz="2400" b="1" dirty="0" err="1">
                <a:solidFill>
                  <a:srgbClr val="FF0000"/>
                </a:solidFill>
                <a:latin typeface="Calibri"/>
              </a:rPr>
              <a:t>GGMotion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 counterpart.</a:t>
            </a:r>
          </a:p>
          <a:p>
            <a:pPr algn="l">
              <a:spcAft>
                <a:spcPts val="1000"/>
              </a:spcAft>
            </a:pPr>
            <a:r>
              <a:rPr sz="2400" b="0" dirty="0" err="1">
                <a:solidFill>
                  <a:srgbClr val="FFFFFF"/>
                </a:solidFill>
                <a:latin typeface="Calibri"/>
              </a:rPr>
              <a:t>GGMotion-DQPose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canonicalises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by torso pose, maps relative poses to se(3) log coordinates, predicts future relative coordinates, decodes through DQ reconstruction. 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41.8 mm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at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400 </a:t>
            </a:r>
            <a:r>
              <a:rPr sz="2400" b="0" dirty="0" err="1">
                <a:solidFill>
                  <a:srgbClr val="FF0000"/>
                </a:solidFill>
                <a:latin typeface="Calibri"/>
              </a:rPr>
              <a:t>ms.</a:t>
            </a:r>
            <a:endParaRPr sz="2400" b="0" dirty="0">
              <a:solidFill>
                <a:srgbClr val="FF0000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3.  Robustness under SE(3) frame change.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Test-time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rotation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up to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180°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and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translation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up to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5 m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without retraining. </a:t>
            </a:r>
            <a:r>
              <a:rPr sz="2400" b="0" dirty="0" err="1">
                <a:solidFill>
                  <a:srgbClr val="FF0000"/>
                </a:solidFill>
                <a:latin typeface="Calibri"/>
              </a:rPr>
              <a:t>DQPose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 stays at 41.8 mm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.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XYZ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rises to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47.8 mm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(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rotation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) and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2074 mm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(5 m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translation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).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Scope. 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CMU 8-action benchmark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at 25 fps, 400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ms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horizon, LTD / PGBIG protocol.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8 / 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3657600" cy="3200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000" b="1">
                <a:solidFill>
                  <a:srgbClr val="FF0000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3013055"/>
            <a:ext cx="640080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1" dirty="0">
                <a:solidFill>
                  <a:srgbClr val="FF0000"/>
                </a:solidFill>
                <a:latin typeface="Calibri"/>
              </a:rPr>
              <a:t>Background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2.1  What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Background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 We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9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2846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dirty="0">
                <a:solidFill>
                  <a:srgbClr val="FF0000"/>
                </a:solidFill>
                <a:latin typeface="Calibri"/>
              </a:rPr>
              <a:t>Dual quaternions</a:t>
            </a:r>
            <a:r>
              <a:rPr sz="3200" b="0" dirty="0">
                <a:solidFill>
                  <a:srgbClr val="FFFFFF"/>
                </a:solidFill>
                <a:latin typeface="Calibri"/>
              </a:rPr>
              <a:t>  give a </a:t>
            </a:r>
            <a:r>
              <a:rPr sz="3200" b="0" dirty="0">
                <a:solidFill>
                  <a:srgbClr val="FF0000"/>
                </a:solidFill>
                <a:latin typeface="Calibri"/>
              </a:rPr>
              <a:t>value type for SE(3).</a:t>
            </a:r>
          </a:p>
          <a:p>
            <a:pPr algn="l">
              <a:spcAft>
                <a:spcPts val="1000"/>
              </a:spcAft>
            </a:pPr>
            <a:r>
              <a:rPr sz="3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</a:rPr>
              <a:t>Graph neural networks</a:t>
            </a:r>
            <a:r>
              <a:rPr sz="3200" b="0" dirty="0">
                <a:solidFill>
                  <a:srgbClr val="FFFFFF"/>
                </a:solidFill>
                <a:latin typeface="Calibri"/>
              </a:rPr>
              <a:t>  give the </a:t>
            </a:r>
            <a:r>
              <a:rPr sz="3200" b="0" dirty="0">
                <a:solidFill>
                  <a:srgbClr val="FF0000"/>
                </a:solidFill>
                <a:latin typeface="Calibri"/>
              </a:rPr>
              <a:t>message-passing </a:t>
            </a:r>
            <a:r>
              <a:rPr sz="3200" b="0" dirty="0">
                <a:solidFill>
                  <a:srgbClr val="FFFFFF"/>
                </a:solidFill>
                <a:latin typeface="Calibri"/>
              </a:rPr>
              <a:t>framework.</a:t>
            </a:r>
          </a:p>
          <a:p>
            <a:pPr algn="l">
              <a:spcAft>
                <a:spcPts val="1000"/>
              </a:spcAft>
            </a:pPr>
            <a:r>
              <a:rPr sz="3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</a:rPr>
              <a:t>Equivariance</a:t>
            </a:r>
            <a:r>
              <a:rPr sz="3200" b="0" dirty="0">
                <a:solidFill>
                  <a:srgbClr val="FFFFFF"/>
                </a:solidFill>
                <a:latin typeface="Calibri"/>
              </a:rPr>
              <a:t>  is the </a:t>
            </a:r>
            <a:r>
              <a:rPr sz="3200" b="0" dirty="0">
                <a:solidFill>
                  <a:srgbClr val="FF0000"/>
                </a:solidFill>
                <a:latin typeface="Calibri"/>
              </a:rPr>
              <a:t>symmetry</a:t>
            </a:r>
            <a:r>
              <a:rPr sz="3200" b="0" dirty="0">
                <a:solidFill>
                  <a:srgbClr val="FFFFFF"/>
                </a:solidFill>
                <a:latin typeface="Calibri"/>
              </a:rPr>
              <a:t> property we want.</a:t>
            </a:r>
          </a:p>
          <a:p>
            <a:pPr algn="l">
              <a:spcAft>
                <a:spcPts val="1000"/>
              </a:spcAft>
            </a:pPr>
            <a:r>
              <a:rPr sz="3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</a:rPr>
              <a:t>SE(3)</a:t>
            </a:r>
            <a:r>
              <a:rPr sz="3200" b="0" dirty="0">
                <a:solidFill>
                  <a:srgbClr val="FFFFFF"/>
                </a:solidFill>
                <a:latin typeface="Calibri"/>
              </a:rPr>
              <a:t>  is the group of </a:t>
            </a:r>
            <a:r>
              <a:rPr sz="3200" b="0" dirty="0">
                <a:solidFill>
                  <a:srgbClr val="FF0000"/>
                </a:solidFill>
                <a:latin typeface="Calibri"/>
              </a:rPr>
              <a:t>rigid motions </a:t>
            </a:r>
            <a:r>
              <a:rPr sz="3200" b="0" dirty="0">
                <a:solidFill>
                  <a:srgbClr val="FFFFFF"/>
                </a:solidFill>
                <a:latin typeface="Calibri"/>
              </a:rPr>
              <a:t>we restrict 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2.2  The Two Halves of a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Rigid 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10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191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A rigid motion is a 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rotation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followed by a 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translation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Standard practice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stores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them 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separately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:  rotation matrix or unit quaternion, plus translation vector.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0000"/>
                </a:solidFill>
                <a:latin typeface="Calibri"/>
              </a:rPr>
              <a:t>Composition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is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awkward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. 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Rotate the second translation by the first rotation, add to the first translation, multiply the rotations.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Long kinematic chains require constant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resynchronisation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between rotation and translation parts.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We want 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one object, one multiplication, full rigid motion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2.3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Quaternions Encode 3D Rotation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11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75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A 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quaternion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is  q = w + xi + </a:t>
            </a:r>
            <a:r>
              <a:rPr sz="2800" b="0" dirty="0" err="1">
                <a:solidFill>
                  <a:schemeClr val="bg1"/>
                </a:solidFill>
                <a:latin typeface="Calibri"/>
              </a:rPr>
              <a:t>yj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 + </a:t>
            </a:r>
            <a:r>
              <a:rPr sz="2800" b="0" dirty="0" err="1">
                <a:solidFill>
                  <a:schemeClr val="bg1"/>
                </a:solidFill>
                <a:latin typeface="Calibri"/>
              </a:rPr>
              <a:t>zk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  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with rules  i² = j² = k² =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ijk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= -1.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A 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unit quaternion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0" dirty="0" err="1">
                <a:solidFill>
                  <a:srgbClr val="FF0000"/>
                </a:solidFill>
                <a:latin typeface="Calibri"/>
              </a:rPr>
              <a:t>parameterises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 a 3D rotation:</a:t>
            </a:r>
          </a:p>
          <a:p>
            <a:pPr algn="l">
              <a:spcAft>
                <a:spcPts val="1000"/>
              </a:spcAft>
            </a:pPr>
            <a:r>
              <a:rPr sz="2800" b="1" dirty="0" err="1">
                <a:solidFill>
                  <a:schemeClr val="bg1"/>
                </a:solidFill>
                <a:latin typeface="Calibri"/>
              </a:rPr>
              <a:t>q_r</a:t>
            </a:r>
            <a:r>
              <a:rPr sz="2800" b="1" dirty="0">
                <a:solidFill>
                  <a:schemeClr val="bg1"/>
                </a:solidFill>
                <a:latin typeface="Calibri"/>
              </a:rPr>
              <a:t> = (cos(</a:t>
            </a:r>
            <a:r>
              <a:rPr sz="2800" b="1" dirty="0" err="1">
                <a:solidFill>
                  <a:schemeClr val="bg1"/>
                </a:solidFill>
                <a:latin typeface="Calibri"/>
              </a:rPr>
              <a:t>θ</a:t>
            </a:r>
            <a:r>
              <a:rPr sz="2800" b="1" dirty="0">
                <a:solidFill>
                  <a:schemeClr val="bg1"/>
                </a:solidFill>
                <a:latin typeface="Calibri"/>
              </a:rPr>
              <a:t>/2),  n sin(</a:t>
            </a:r>
            <a:r>
              <a:rPr sz="2800" b="1" dirty="0" err="1">
                <a:solidFill>
                  <a:schemeClr val="bg1"/>
                </a:solidFill>
                <a:latin typeface="Calibri"/>
              </a:rPr>
              <a:t>θ</a:t>
            </a:r>
            <a:r>
              <a:rPr sz="2800" b="1" dirty="0">
                <a:solidFill>
                  <a:schemeClr val="bg1"/>
                </a:solidFill>
                <a:latin typeface="Calibri"/>
              </a:rPr>
              <a:t>/2))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        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with axis n and angle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θ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It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acts on a 3D vector by 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sandwich product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:  p' =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q_r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 p̃ 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q_r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*.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Unit 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quaternions </a:t>
            </a:r>
            <a:r>
              <a:rPr sz="2800" b="1" dirty="0">
                <a:solidFill>
                  <a:schemeClr val="bg1"/>
                </a:solidFill>
                <a:latin typeface="Calibri"/>
              </a:rPr>
              <a:t>double-cover SO(3)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: 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q_r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and -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q_r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encode the same rotation.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2.4  Dual Numbers Are Numbers with a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12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960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0" dirty="0">
                <a:solidFill>
                  <a:srgbClr val="FFFFFF"/>
                </a:solidFill>
                <a:latin typeface="Calibri"/>
              </a:rPr>
              <a:t>A </a:t>
            </a:r>
            <a:r>
              <a:rPr sz="3200" b="1" dirty="0">
                <a:solidFill>
                  <a:srgbClr val="FF0000"/>
                </a:solidFill>
                <a:latin typeface="Calibri"/>
              </a:rPr>
              <a:t>dual number</a:t>
            </a:r>
            <a:r>
              <a:rPr sz="3200" b="0" dirty="0">
                <a:solidFill>
                  <a:srgbClr val="FFFFFF"/>
                </a:solidFill>
                <a:latin typeface="Calibri"/>
              </a:rPr>
              <a:t> is  </a:t>
            </a:r>
            <a:r>
              <a:rPr sz="3200" b="0" dirty="0">
                <a:solidFill>
                  <a:srgbClr val="FF0000"/>
                </a:solidFill>
                <a:latin typeface="Calibri"/>
              </a:rPr>
              <a:t>r + d </a:t>
            </a:r>
            <a:r>
              <a:rPr sz="3200" b="0" dirty="0" err="1">
                <a:solidFill>
                  <a:srgbClr val="FF0000"/>
                </a:solidFill>
                <a:latin typeface="Calibri"/>
              </a:rPr>
              <a:t>ε</a:t>
            </a:r>
            <a:r>
              <a:rPr sz="3200" b="0" dirty="0">
                <a:solidFill>
                  <a:srgbClr val="FF0000"/>
                </a:solidFill>
                <a:latin typeface="Calibri"/>
              </a:rPr>
              <a:t>  with r real, d dual</a:t>
            </a:r>
            <a:r>
              <a:rPr sz="3200" b="0" dirty="0">
                <a:solidFill>
                  <a:srgbClr val="FFFFFF"/>
                </a:solidFill>
                <a:latin typeface="Calibri"/>
              </a:rPr>
              <a:t>, and </a:t>
            </a:r>
            <a:r>
              <a:rPr sz="3200" b="0" dirty="0">
                <a:solidFill>
                  <a:schemeClr val="bg1"/>
                </a:solidFill>
                <a:latin typeface="Calibri"/>
              </a:rPr>
              <a:t>rules  </a:t>
            </a:r>
            <a:r>
              <a:rPr sz="3200" b="1" dirty="0">
                <a:solidFill>
                  <a:srgbClr val="FF0000"/>
                </a:solidFill>
                <a:latin typeface="Calibri"/>
              </a:rPr>
              <a:t>ε² = 0</a:t>
            </a:r>
            <a:r>
              <a:rPr sz="3200" b="0" dirty="0">
                <a:solidFill>
                  <a:schemeClr val="bg1"/>
                </a:solidFill>
                <a:latin typeface="Calibri"/>
              </a:rPr>
              <a:t>, </a:t>
            </a:r>
            <a:r>
              <a:rPr sz="3200" b="0" dirty="0" err="1">
                <a:solidFill>
                  <a:srgbClr val="FFFFFF"/>
                </a:solidFill>
                <a:latin typeface="Calibri"/>
              </a:rPr>
              <a:t>ε</a:t>
            </a:r>
            <a:r>
              <a:rPr sz="3200" b="0" dirty="0">
                <a:solidFill>
                  <a:srgbClr val="FFFFFF"/>
                </a:solidFill>
                <a:latin typeface="Calibri"/>
              </a:rPr>
              <a:t> ≠ 0.</a:t>
            </a:r>
          </a:p>
          <a:p>
            <a:pPr algn="l">
              <a:spcAft>
                <a:spcPts val="1000"/>
              </a:spcAft>
            </a:pPr>
            <a:r>
              <a:rPr sz="3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0" dirty="0">
                <a:solidFill>
                  <a:srgbClr val="FF0000"/>
                </a:solidFill>
                <a:latin typeface="Calibri"/>
              </a:rPr>
              <a:t>Multiplication</a:t>
            </a:r>
            <a:r>
              <a:rPr sz="3200" b="0" dirty="0">
                <a:solidFill>
                  <a:srgbClr val="FFFFFF"/>
                </a:solidFill>
                <a:latin typeface="Calibri"/>
              </a:rPr>
              <a:t> uses the rule to drop second-order terms:</a:t>
            </a:r>
          </a:p>
          <a:p>
            <a:pPr algn="l">
              <a:spcAft>
                <a:spcPts val="1000"/>
              </a:spcAft>
            </a:pPr>
            <a:r>
              <a:rPr sz="3200" b="0" dirty="0">
                <a:solidFill>
                  <a:schemeClr val="bg1"/>
                </a:solidFill>
                <a:latin typeface="Calibri"/>
              </a:rPr>
              <a:t> 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(r₁ + d₁ </a:t>
            </a:r>
            <a:r>
              <a:rPr sz="3200" b="1" dirty="0" err="1">
                <a:solidFill>
                  <a:schemeClr val="bg1"/>
                </a:solidFill>
                <a:latin typeface="Calibri"/>
              </a:rPr>
              <a:t>ε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)(r</a:t>
            </a:r>
            <a:r>
              <a:rPr lang="en-CY" sz="3200" b="1" dirty="0">
                <a:solidFill>
                  <a:schemeClr val="bg1"/>
                </a:solidFill>
                <a:latin typeface="Calibri"/>
              </a:rPr>
              <a:t>₂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 + d₂ </a:t>
            </a:r>
            <a:r>
              <a:rPr sz="3200" b="1" dirty="0" err="1">
                <a:solidFill>
                  <a:schemeClr val="bg1"/>
                </a:solidFill>
                <a:latin typeface="Calibri"/>
              </a:rPr>
              <a:t>ε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) = r₁ r₂ + (r₁ d₂ + d₁ r₂) </a:t>
            </a:r>
            <a:r>
              <a:rPr sz="3200" b="1" dirty="0" err="1">
                <a:solidFill>
                  <a:schemeClr val="bg1"/>
                </a:solidFill>
                <a:latin typeface="Calibri"/>
              </a:rPr>
              <a:t>ε</a:t>
            </a:r>
            <a:endParaRPr sz="3200" b="1" dirty="0">
              <a:solidFill>
                <a:schemeClr val="bg1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3200" b="0" dirty="0">
                <a:solidFill>
                  <a:srgbClr val="FFFFFF"/>
                </a:solidFill>
                <a:latin typeface="Calibri"/>
              </a:rPr>
              <a:t> The structure parallels complex multiplication, with 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ε² = 0</a:t>
            </a:r>
            <a:r>
              <a:rPr sz="3200" b="0" dirty="0">
                <a:solidFill>
                  <a:schemeClr val="bg1"/>
                </a:solidFill>
                <a:latin typeface="Calibri"/>
              </a:rPr>
              <a:t> </a:t>
            </a:r>
            <a:r>
              <a:rPr sz="3200" b="0" dirty="0">
                <a:solidFill>
                  <a:srgbClr val="FFFFFF"/>
                </a:solidFill>
                <a:latin typeface="Calibri"/>
              </a:rPr>
              <a:t>instead of  i² = -1.</a:t>
            </a:r>
          </a:p>
          <a:p>
            <a:pPr algn="l">
              <a:spcAft>
                <a:spcPts val="1000"/>
              </a:spcAft>
            </a:pPr>
            <a:r>
              <a:rPr sz="3200" b="0" dirty="0">
                <a:solidFill>
                  <a:srgbClr val="FFFFFF"/>
                </a:solidFill>
                <a:latin typeface="Calibri"/>
              </a:rPr>
              <a:t> This nilpotent property </a:t>
            </a:r>
            <a:r>
              <a:rPr sz="3200" b="0" dirty="0">
                <a:solidFill>
                  <a:srgbClr val="FF0000"/>
                </a:solidFill>
                <a:latin typeface="Calibri"/>
              </a:rPr>
              <a:t>lets us </a:t>
            </a:r>
            <a:r>
              <a:rPr sz="3200" b="1" dirty="0">
                <a:solidFill>
                  <a:srgbClr val="FF0000"/>
                </a:solidFill>
                <a:latin typeface="Calibri"/>
              </a:rPr>
              <a:t>carry rotation and translation in one object</a:t>
            </a:r>
            <a:r>
              <a:rPr sz="3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0" dirty="0">
                <a:solidFill>
                  <a:srgbClr val="FF0000"/>
                </a:solidFill>
                <a:latin typeface="Calibri"/>
              </a:rPr>
              <a:t>without the two parts interfering.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2.5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Dual Quaternions 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Pack a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Full Rigid 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13 / 81</a:t>
            </a:r>
          </a:p>
        </p:txBody>
      </p:sp>
      <p:pic>
        <p:nvPicPr>
          <p:cNvPr id="5" name="Picture 4" descr="fig_dq_scr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298" y="2194560"/>
            <a:ext cx="2918123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280160"/>
            <a:ext cx="7040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1">
                <a:solidFill>
                  <a:srgbClr val="FF0000"/>
                </a:solidFill>
                <a:latin typeface="Calibri"/>
              </a:rPr>
              <a:t>q̂ = q_r + ε q_d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7040880" cy="3595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FF0000"/>
                </a:solidFill>
                <a:latin typeface="Calibri"/>
              </a:rPr>
              <a:t>q̂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 a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dual quaternion (8 components).</a:t>
            </a:r>
          </a:p>
          <a:p>
            <a:pPr algn="l">
              <a:spcAft>
                <a:spcPts val="1000"/>
              </a:spcAft>
            </a:pPr>
            <a:r>
              <a:rPr sz="2400" b="1" dirty="0" err="1">
                <a:solidFill>
                  <a:srgbClr val="FF0000"/>
                </a:solidFill>
                <a:latin typeface="Calibri"/>
              </a:rPr>
              <a:t>q_r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 real part: unit quaternion for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rotation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400" b="1" dirty="0" err="1">
                <a:solidFill>
                  <a:srgbClr val="FF0000"/>
                </a:solidFill>
                <a:latin typeface="Calibri"/>
              </a:rPr>
              <a:t>q_d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 dual part: encodes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translation coupled to rotation.</a:t>
            </a:r>
          </a:p>
          <a:p>
            <a:pPr algn="l">
              <a:spcAft>
                <a:spcPts val="1000"/>
              </a:spcAft>
            </a:pPr>
            <a:r>
              <a:rPr sz="2400" b="1" dirty="0" err="1">
                <a:solidFill>
                  <a:srgbClr val="FF0000"/>
                </a:solidFill>
                <a:latin typeface="Calibri"/>
              </a:rPr>
              <a:t>ε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 the dual unit with  ε² = 0.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Intuition. 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One algebraic object. One pose token.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Why this matters. 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Every joint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pose becomes one number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knowing orientation and position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.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Composing two motions is one multiplication.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2.6  The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Translation Encoding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14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1">
                <a:solidFill>
                  <a:srgbClr val="FF0000"/>
                </a:solidFill>
                <a:latin typeface="Calibri"/>
              </a:rPr>
              <a:t>q_d = ½ t̃ q_r,        with  t̃ = (0, 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698480" cy="3965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FF0000"/>
                </a:solidFill>
                <a:latin typeface="Calibri"/>
              </a:rPr>
              <a:t>Variables.</a:t>
            </a: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FF0000"/>
                </a:solidFill>
                <a:latin typeface="Calibri"/>
              </a:rPr>
              <a:t>t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   the 3D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translation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vector to encode.</a:t>
            </a: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FF0000"/>
                </a:solidFill>
                <a:latin typeface="Calibri"/>
              </a:rPr>
              <a:t>t̃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   t embedded as a pure-imaginary quaternion (scalar part zero).</a:t>
            </a:r>
          </a:p>
          <a:p>
            <a:pPr algn="l">
              <a:spcAft>
                <a:spcPts val="1000"/>
              </a:spcAft>
            </a:pPr>
            <a:r>
              <a:rPr sz="2400" b="1" dirty="0" err="1">
                <a:solidFill>
                  <a:srgbClr val="FF0000"/>
                </a:solidFill>
                <a:latin typeface="Calibri"/>
              </a:rPr>
              <a:t>q_r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   the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rotation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part of the same pose.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Intuition. 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Translation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is not stored independently. It is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multiplied with the rotation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through the algebra. This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coupling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is what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allows one multiplication to compose rigid motions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correctly.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b="1" dirty="0">
                <a:solidFill>
                  <a:schemeClr val="bg1"/>
                </a:solidFill>
                <a:latin typeface="Calibri"/>
              </a:rPr>
              <a:t>Why this matters.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This rule turns a translation vector into the right object to live alongside a rotation in one DQ.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2.7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One Multiplication Composes a Full Rigid 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15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1" dirty="0">
                <a:solidFill>
                  <a:schemeClr val="bg1"/>
                </a:solidFill>
                <a:latin typeface="Calibri"/>
              </a:rPr>
              <a:t>q̂₁ ⊗ q̂₂ = q_r1 q_r2 + ( q_r1 q_d2 + q_d1 q_r2 ) </a:t>
            </a:r>
            <a:r>
              <a:rPr sz="2800" b="1" dirty="0" err="1">
                <a:solidFill>
                  <a:schemeClr val="bg1"/>
                </a:solidFill>
                <a:latin typeface="Calibri"/>
              </a:rPr>
              <a:t>ε</a:t>
            </a:r>
            <a:endParaRPr sz="28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3400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dirty="0">
                <a:solidFill>
                  <a:srgbClr val="FF0000"/>
                </a:solidFill>
                <a:latin typeface="Calibri"/>
              </a:rPr>
              <a:t>Variables.</a:t>
            </a:r>
          </a:p>
          <a:p>
            <a:pPr algn="l">
              <a:spcAft>
                <a:spcPts val="1000"/>
              </a:spcAft>
            </a:pPr>
            <a:r>
              <a:rPr sz="1900" b="0" dirty="0">
                <a:solidFill>
                  <a:srgbClr val="FF0000"/>
                </a:solidFill>
                <a:latin typeface="Calibri"/>
              </a:rPr>
              <a:t>Real part  </a:t>
            </a:r>
            <a:r>
              <a:rPr sz="1900" b="1" dirty="0">
                <a:solidFill>
                  <a:srgbClr val="FF0000"/>
                </a:solidFill>
                <a:latin typeface="Calibri"/>
              </a:rPr>
              <a:t>q_r1 q_r2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   is the quaternion </a:t>
            </a:r>
            <a:r>
              <a:rPr sz="1900" b="0" dirty="0">
                <a:solidFill>
                  <a:srgbClr val="FF0000"/>
                </a:solidFill>
                <a:latin typeface="Calibri"/>
              </a:rPr>
              <a:t>product of the two rotations.</a:t>
            </a:r>
          </a:p>
          <a:p>
            <a:pPr algn="l">
              <a:spcAft>
                <a:spcPts val="1000"/>
              </a:spcAft>
            </a:pPr>
            <a:r>
              <a:rPr sz="1900" b="0" dirty="0">
                <a:solidFill>
                  <a:srgbClr val="FF0000"/>
                </a:solidFill>
                <a:latin typeface="Calibri"/>
              </a:rPr>
              <a:t>Dual part  </a:t>
            </a:r>
            <a:r>
              <a:rPr sz="1900" b="1" dirty="0">
                <a:solidFill>
                  <a:srgbClr val="FF0000"/>
                </a:solidFill>
                <a:latin typeface="Calibri"/>
              </a:rPr>
              <a:t>q_r1 q_d2 + q_d1 q_r2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   </a:t>
            </a:r>
            <a:r>
              <a:rPr sz="1900" b="0" dirty="0">
                <a:solidFill>
                  <a:srgbClr val="FF0000"/>
                </a:solidFill>
                <a:latin typeface="Calibri"/>
              </a:rPr>
              <a:t>mixes each rotation with the other's translation.</a:t>
            </a:r>
          </a:p>
          <a:p>
            <a:pPr algn="l">
              <a:spcAft>
                <a:spcPts val="1000"/>
              </a:spcAft>
            </a:pPr>
            <a:r>
              <a:rPr sz="19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900" b="1" dirty="0">
                <a:solidFill>
                  <a:srgbClr val="FF0000"/>
                </a:solidFill>
                <a:latin typeface="Calibri"/>
              </a:rPr>
              <a:t>Intuition. 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This single rule does the bookkeeping that matrix and split storage have to do by hand. The dual-part mixing is exactly the rotate-the-translation-then-add step that composes rigid motions correctly.</a:t>
            </a:r>
          </a:p>
          <a:p>
            <a:pPr algn="l">
              <a:spcAft>
                <a:spcPts val="1000"/>
              </a:spcAft>
            </a:pPr>
            <a:r>
              <a:rPr sz="19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900" b="1" dirty="0">
                <a:solidFill>
                  <a:srgbClr val="FF0000"/>
                </a:solidFill>
                <a:latin typeface="Calibri"/>
              </a:rPr>
              <a:t>Why this matters.  </a:t>
            </a:r>
            <a:r>
              <a:rPr sz="1900" b="0" dirty="0">
                <a:solidFill>
                  <a:srgbClr val="FF0000"/>
                </a:solidFill>
                <a:latin typeface="Calibri"/>
              </a:rPr>
              <a:t>Composition equals one multiplication.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The relative pose between two joints is one multiplication:  q̃ = q̂_c⁻¹ ⊗ q̂_</a:t>
            </a:r>
            <a:r>
              <a:rPr sz="1900" b="0" dirty="0" err="1">
                <a:solidFill>
                  <a:srgbClr val="FFFFFF"/>
                </a:solidFill>
                <a:latin typeface="Calibri"/>
              </a:rPr>
              <a:t>i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.  This is the operation that the equivariance proof uses.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2.8  Log and Exp Map DQs to a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Flat 6D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16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 dirty="0" err="1">
                <a:solidFill>
                  <a:schemeClr val="bg1"/>
                </a:solidFill>
                <a:latin typeface="Calibri"/>
              </a:rPr>
              <a:t>ξ</a:t>
            </a:r>
            <a:r>
              <a:rPr sz="3000" b="1" dirty="0">
                <a:solidFill>
                  <a:schemeClr val="bg1"/>
                </a:solidFill>
                <a:latin typeface="Calibri"/>
              </a:rPr>
              <a:t> = log(q̃) ∈ se(3) ≅ R⁶,        q̃ = exp(</a:t>
            </a:r>
            <a:r>
              <a:rPr sz="3000" b="1" dirty="0" err="1">
                <a:solidFill>
                  <a:schemeClr val="bg1"/>
                </a:solidFill>
                <a:latin typeface="Calibri"/>
              </a:rPr>
              <a:t>ξ</a:t>
            </a:r>
            <a:r>
              <a:rPr sz="3000" b="1" dirty="0">
                <a:solidFill>
                  <a:schemeClr val="bg1"/>
                </a:solidFill>
                <a:latin typeface="Calibri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3400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dirty="0">
                <a:solidFill>
                  <a:srgbClr val="FF0000"/>
                </a:solidFill>
                <a:latin typeface="Calibri"/>
              </a:rPr>
              <a:t>Variables.</a:t>
            </a:r>
          </a:p>
          <a:p>
            <a:pPr algn="l">
              <a:spcAft>
                <a:spcPts val="1000"/>
              </a:spcAft>
            </a:pPr>
            <a:r>
              <a:rPr sz="1900" b="1" dirty="0">
                <a:solidFill>
                  <a:srgbClr val="FF0000"/>
                </a:solidFill>
                <a:latin typeface="Calibri"/>
              </a:rPr>
              <a:t>q̃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    a </a:t>
            </a:r>
            <a:r>
              <a:rPr sz="1900" b="0" dirty="0">
                <a:solidFill>
                  <a:srgbClr val="FF0000"/>
                </a:solidFill>
                <a:latin typeface="Calibri"/>
              </a:rPr>
              <a:t>unit dual quaternion on a curved manifold.</a:t>
            </a:r>
          </a:p>
          <a:p>
            <a:pPr algn="l">
              <a:spcAft>
                <a:spcPts val="1000"/>
              </a:spcAft>
            </a:pPr>
            <a:r>
              <a:rPr sz="1900" b="1" dirty="0" err="1">
                <a:solidFill>
                  <a:srgbClr val="FF0000"/>
                </a:solidFill>
                <a:latin typeface="Calibri"/>
              </a:rPr>
              <a:t>ξ</a:t>
            </a:r>
            <a:r>
              <a:rPr sz="1900" b="1" dirty="0">
                <a:solidFill>
                  <a:srgbClr val="FF0000"/>
                </a:solidFill>
                <a:latin typeface="Calibri"/>
              </a:rPr>
              <a:t> = (</a:t>
            </a:r>
            <a:r>
              <a:rPr sz="1900" b="1" dirty="0" err="1">
                <a:solidFill>
                  <a:srgbClr val="FF0000"/>
                </a:solidFill>
                <a:latin typeface="Calibri"/>
              </a:rPr>
              <a:t>ω</a:t>
            </a:r>
            <a:r>
              <a:rPr sz="1900" b="1" dirty="0">
                <a:solidFill>
                  <a:srgbClr val="FF0000"/>
                </a:solidFill>
                <a:latin typeface="Calibri"/>
              </a:rPr>
              <a:t>, v)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    a </a:t>
            </a:r>
            <a:r>
              <a:rPr sz="1900" b="0" dirty="0">
                <a:solidFill>
                  <a:srgbClr val="FF0000"/>
                </a:solidFill>
                <a:latin typeface="Calibri"/>
              </a:rPr>
              <a:t>twist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:  </a:t>
            </a:r>
            <a:r>
              <a:rPr sz="1900" b="0" dirty="0">
                <a:solidFill>
                  <a:srgbClr val="FF0000"/>
                </a:solidFill>
                <a:latin typeface="Calibri"/>
              </a:rPr>
              <a:t>6D vector with 3 rotation generators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 (</a:t>
            </a:r>
            <a:r>
              <a:rPr sz="1900" b="0" dirty="0" err="1">
                <a:solidFill>
                  <a:srgbClr val="FFFFFF"/>
                </a:solidFill>
                <a:latin typeface="Calibri"/>
              </a:rPr>
              <a:t>ω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 = axis × angle) and </a:t>
            </a:r>
            <a:r>
              <a:rPr sz="1900" b="0" dirty="0">
                <a:solidFill>
                  <a:srgbClr val="FF0000"/>
                </a:solidFill>
                <a:latin typeface="Calibri"/>
              </a:rPr>
              <a:t>3 translation generators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 (v).</a:t>
            </a:r>
          </a:p>
          <a:p>
            <a:pPr algn="l">
              <a:spcAft>
                <a:spcPts val="1000"/>
              </a:spcAft>
            </a:pPr>
            <a:r>
              <a:rPr sz="19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900" b="1" dirty="0">
                <a:solidFill>
                  <a:srgbClr val="FF0000"/>
                </a:solidFill>
                <a:latin typeface="Calibri"/>
              </a:rPr>
              <a:t>Intuition. 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Unit DQs are constrained.  The </a:t>
            </a:r>
            <a:r>
              <a:rPr sz="1900" b="0" dirty="0">
                <a:solidFill>
                  <a:srgbClr val="FF0000"/>
                </a:solidFill>
                <a:latin typeface="Calibri"/>
              </a:rPr>
              <a:t>log map flattens a relative pose into ordinary R⁶ where MLPs and attention work normally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.  The </a:t>
            </a:r>
            <a:r>
              <a:rPr sz="1900" b="0" dirty="0">
                <a:solidFill>
                  <a:srgbClr val="FF0000"/>
                </a:solidFill>
                <a:latin typeface="Calibri"/>
              </a:rPr>
              <a:t>exp map maps the network's R⁶ output back to a valid pose.</a:t>
            </a:r>
          </a:p>
          <a:p>
            <a:pPr algn="l">
              <a:spcAft>
                <a:spcPts val="1000"/>
              </a:spcAft>
            </a:pPr>
            <a:r>
              <a:rPr sz="19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900" b="1" dirty="0">
                <a:solidFill>
                  <a:srgbClr val="FF0000"/>
                </a:solidFill>
                <a:latin typeface="Calibri"/>
              </a:rPr>
              <a:t>Why this matters. 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The neural network operates on flat 6D twists while the geometric meaning lives in DQs. Log gives the network a learnable coordinate; exp gives it a way to produce valid poses.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2.9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Graph Neural Networks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 Propagate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17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7959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A </a:t>
            </a:r>
            <a:r>
              <a:rPr sz="2000" b="1" dirty="0">
                <a:solidFill>
                  <a:srgbClr val="FF0000"/>
                </a:solidFill>
                <a:latin typeface="Calibri"/>
              </a:rPr>
              <a:t>GNN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processes objects (joints) related by pairwise connections (bones).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Each layer has three steps.</a:t>
            </a: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1.   Edge message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.  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m_ij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=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φ_e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(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h_i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h_j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a_ij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).   Learned function of the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two incident joints.</a:t>
            </a: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2.   Aggregation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.  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m_i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=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Agg_j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m_ij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.  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Permutation-invariant operator 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(sum or mean).</a:t>
            </a: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3.   Node update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.  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h_i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^(ℓ+1) =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φ_h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(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h_i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m_i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).   Next-layer state.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000" dirty="0">
                <a:solidFill>
                  <a:srgbClr val="FFFFFF"/>
                </a:solidFill>
                <a:latin typeface="Calibri"/>
              </a:rPr>
              <a:t>Permutation-equivariant 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by construction.</a:t>
            </a: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No geometric equivariance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to rotations or translations. That is what we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add next.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2.10  The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Equivariance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18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800" b="1" dirty="0">
                <a:solidFill>
                  <a:schemeClr val="bg1"/>
                </a:solidFill>
                <a:latin typeface="Calibri"/>
              </a:rPr>
              <a:t>f( </a:t>
            </a:r>
            <a:r>
              <a:rPr sz="3800" b="1" dirty="0" err="1">
                <a:solidFill>
                  <a:schemeClr val="bg1"/>
                </a:solidFill>
                <a:latin typeface="Calibri"/>
              </a:rPr>
              <a:t>ρ_X</a:t>
            </a:r>
            <a:r>
              <a:rPr sz="3800" b="1" dirty="0">
                <a:solidFill>
                  <a:schemeClr val="bg1"/>
                </a:solidFill>
                <a:latin typeface="Calibri"/>
              </a:rPr>
              <a:t>(g) x )  =  </a:t>
            </a:r>
            <a:r>
              <a:rPr sz="3800" b="1" dirty="0" err="1">
                <a:solidFill>
                  <a:schemeClr val="bg1"/>
                </a:solidFill>
                <a:latin typeface="Calibri"/>
              </a:rPr>
              <a:t>ρ_Y</a:t>
            </a:r>
            <a:r>
              <a:rPr sz="3800" b="1" dirty="0">
                <a:solidFill>
                  <a:schemeClr val="bg1"/>
                </a:solidFill>
                <a:latin typeface="Calibri"/>
              </a:rPr>
              <a:t>(g) f(x)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698480" cy="3847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Variables.</a:t>
            </a: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chemeClr val="bg1"/>
                </a:solidFill>
                <a:latin typeface="Calibri"/>
              </a:rPr>
              <a:t>f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    the model.</a:t>
            </a: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chemeClr val="bg1"/>
                </a:solidFill>
                <a:latin typeface="Calibri"/>
              </a:rPr>
              <a:t>g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    a group element (a frame change).</a:t>
            </a:r>
          </a:p>
          <a:p>
            <a:pPr algn="l">
              <a:spcAft>
                <a:spcPts val="1000"/>
              </a:spcAft>
            </a:pPr>
            <a:r>
              <a:rPr sz="2000" b="1" dirty="0" err="1">
                <a:solidFill>
                  <a:schemeClr val="bg1"/>
                </a:solidFill>
                <a:latin typeface="Calibri"/>
              </a:rPr>
              <a:t>ρ_X</a:t>
            </a:r>
            <a:r>
              <a:rPr sz="2000" b="1" dirty="0">
                <a:solidFill>
                  <a:schemeClr val="bg1"/>
                </a:solidFill>
                <a:latin typeface="Calibri"/>
              </a:rPr>
              <a:t>(g)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    how g acts on the input.</a:t>
            </a:r>
          </a:p>
          <a:p>
            <a:pPr algn="l">
              <a:spcAft>
                <a:spcPts val="1000"/>
              </a:spcAft>
            </a:pPr>
            <a:r>
              <a:rPr sz="2000" b="1" dirty="0" err="1">
                <a:solidFill>
                  <a:schemeClr val="bg1"/>
                </a:solidFill>
                <a:latin typeface="Calibri"/>
              </a:rPr>
              <a:t>ρ_Y</a:t>
            </a:r>
            <a:r>
              <a:rPr sz="2000" b="1" dirty="0">
                <a:solidFill>
                  <a:schemeClr val="bg1"/>
                </a:solidFill>
                <a:latin typeface="Calibri"/>
              </a:rPr>
              <a:t>(g)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    how 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g acts on the output.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</a:rPr>
              <a:t>Intuition.  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A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function is equivariant 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when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applying a transformation to its input is the same as applying that transformation to its output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. 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For motion prediction:  rotating the input pose should rotate the predicted future pose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dirty="0">
                <a:solidFill>
                  <a:schemeClr val="bg1"/>
                </a:solidFill>
                <a:latin typeface="Calibri"/>
              </a:rPr>
              <a:t>Why this matters.  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The 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symmetry we want by construction. 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Three payoffs: sample efficiency, out-of-distribution robustness, parameter capacity used efficiently.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2.11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EGNN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: The Equivariant Coordinate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19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 dirty="0" err="1">
                <a:solidFill>
                  <a:schemeClr val="bg1"/>
                </a:solidFill>
                <a:latin typeface="Calibri"/>
              </a:rPr>
              <a:t>x_i</a:t>
            </a:r>
            <a:r>
              <a:rPr sz="2200" b="1" dirty="0">
                <a:solidFill>
                  <a:schemeClr val="bg1"/>
                </a:solidFill>
                <a:latin typeface="Calibri"/>
              </a:rPr>
              <a:t>^(ℓ+1) = </a:t>
            </a:r>
            <a:r>
              <a:rPr sz="2200" b="1" dirty="0" err="1">
                <a:solidFill>
                  <a:schemeClr val="bg1"/>
                </a:solidFill>
                <a:latin typeface="Calibri"/>
              </a:rPr>
              <a:t>x_i</a:t>
            </a:r>
            <a:r>
              <a:rPr sz="2200" b="1" dirty="0">
                <a:solidFill>
                  <a:schemeClr val="bg1"/>
                </a:solidFill>
                <a:latin typeface="Calibri"/>
              </a:rPr>
              <a:t>^(ℓ) + (1 / |N(</a:t>
            </a:r>
            <a:r>
              <a:rPr sz="2200" b="1" dirty="0" err="1">
                <a:solidFill>
                  <a:schemeClr val="bg1"/>
                </a:solidFill>
                <a:latin typeface="Calibri"/>
              </a:rPr>
              <a:t>i</a:t>
            </a:r>
            <a:r>
              <a:rPr sz="2200" b="1" dirty="0">
                <a:solidFill>
                  <a:schemeClr val="bg1"/>
                </a:solidFill>
                <a:latin typeface="Calibri"/>
              </a:rPr>
              <a:t>)|) </a:t>
            </a:r>
            <a:r>
              <a:rPr sz="2200" b="1" dirty="0" err="1">
                <a:solidFill>
                  <a:schemeClr val="bg1"/>
                </a:solidFill>
                <a:latin typeface="Calibri"/>
              </a:rPr>
              <a:t>Σ_j</a:t>
            </a:r>
            <a:r>
              <a:rPr sz="2200" b="1" dirty="0">
                <a:solidFill>
                  <a:schemeClr val="bg1"/>
                </a:solidFill>
                <a:latin typeface="Calibri"/>
              </a:rPr>
              <a:t> (</a:t>
            </a:r>
            <a:r>
              <a:rPr sz="2200" b="1" dirty="0" err="1">
                <a:solidFill>
                  <a:schemeClr val="bg1"/>
                </a:solidFill>
                <a:latin typeface="Calibri"/>
              </a:rPr>
              <a:t>x_i</a:t>
            </a:r>
            <a:r>
              <a:rPr sz="2200" b="1" dirty="0">
                <a:solidFill>
                  <a:schemeClr val="bg1"/>
                </a:solidFill>
                <a:latin typeface="Calibri"/>
              </a:rPr>
              <a:t> - </a:t>
            </a:r>
            <a:r>
              <a:rPr sz="2200" b="1" dirty="0" err="1">
                <a:solidFill>
                  <a:schemeClr val="bg1"/>
                </a:solidFill>
                <a:latin typeface="Calibri"/>
              </a:rPr>
              <a:t>x_j</a:t>
            </a:r>
            <a:r>
              <a:rPr sz="2200" b="1" dirty="0">
                <a:solidFill>
                  <a:schemeClr val="bg1"/>
                </a:solidFill>
                <a:latin typeface="Calibri"/>
              </a:rPr>
              <a:t>) </a:t>
            </a:r>
            <a:r>
              <a:rPr sz="2200" b="1" dirty="0" err="1">
                <a:solidFill>
                  <a:schemeClr val="bg1"/>
                </a:solidFill>
                <a:latin typeface="Calibri"/>
              </a:rPr>
              <a:t>φ_x</a:t>
            </a:r>
            <a:r>
              <a:rPr sz="2200" b="1" dirty="0">
                <a:solidFill>
                  <a:schemeClr val="bg1"/>
                </a:solidFill>
                <a:latin typeface="Calibri"/>
              </a:rPr>
              <a:t>(</a:t>
            </a:r>
            <a:r>
              <a:rPr sz="2200" b="1" dirty="0" err="1">
                <a:solidFill>
                  <a:schemeClr val="bg1"/>
                </a:solidFill>
                <a:latin typeface="Calibri"/>
              </a:rPr>
              <a:t>m_ij</a:t>
            </a:r>
            <a:r>
              <a:rPr sz="2200" b="1" dirty="0">
                <a:solidFill>
                  <a:schemeClr val="bg1"/>
                </a:solidFill>
                <a:latin typeface="Calibri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dirty="0">
                <a:solidFill>
                  <a:schemeClr val="bg1"/>
                </a:solidFill>
                <a:latin typeface="Calibri"/>
              </a:rPr>
              <a:t>Variables.</a:t>
            </a:r>
          </a:p>
          <a:p>
            <a:pPr algn="l">
              <a:spcAft>
                <a:spcPts val="1000"/>
              </a:spcAft>
            </a:pPr>
            <a:r>
              <a:rPr sz="1800" b="1" dirty="0" err="1">
                <a:solidFill>
                  <a:schemeClr val="bg1"/>
                </a:solidFill>
                <a:latin typeface="Calibri"/>
              </a:rPr>
              <a:t>x_i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    equivariant position of node </a:t>
            </a:r>
            <a:r>
              <a:rPr sz="1800" b="0" dirty="0" err="1">
                <a:solidFill>
                  <a:schemeClr val="bg1"/>
                </a:solidFill>
                <a:latin typeface="Calibri"/>
              </a:rPr>
              <a:t>i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800" b="1" dirty="0">
                <a:solidFill>
                  <a:schemeClr val="bg1"/>
                </a:solidFill>
                <a:latin typeface="Calibri"/>
              </a:rPr>
              <a:t>(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x_i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 -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x_j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)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    </a:t>
            </a:r>
            <a:r>
              <a:rPr sz="1800" b="0" dirty="0" err="1">
                <a:solidFill>
                  <a:schemeClr val="bg1"/>
                </a:solidFill>
                <a:latin typeface="Calibri"/>
              </a:rPr>
              <a:t>neighbour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-relative difference.</a:t>
            </a:r>
          </a:p>
          <a:p>
            <a:pPr algn="l">
              <a:spcAft>
                <a:spcPts val="1000"/>
              </a:spcAft>
            </a:pPr>
            <a:r>
              <a:rPr sz="1800" b="1" dirty="0" err="1">
                <a:solidFill>
                  <a:schemeClr val="bg1"/>
                </a:solidFill>
                <a:latin typeface="Calibri"/>
              </a:rPr>
              <a:t>φ_x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(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m_ij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)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    scalar weight computed from invariant edge features.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chemeClr val="bg1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800" b="1" dirty="0">
                <a:solidFill>
                  <a:schemeClr val="bg1"/>
                </a:solidFill>
                <a:latin typeface="Calibri"/>
              </a:rPr>
              <a:t>Intuition.  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Each position is updated by a sum of </a:t>
            </a:r>
            <a:r>
              <a:rPr sz="1800" b="0" dirty="0" err="1">
                <a:solidFill>
                  <a:schemeClr val="bg1"/>
                </a:solidFill>
                <a:latin typeface="Calibri"/>
              </a:rPr>
              <a:t>neighbour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-relative directions, each scaled by a learned scalar.  Differences make translations cancel; scalars commute with orthogonal transformations.  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Equivariance is built into the update form.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chemeClr val="bg1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800" b="1" dirty="0">
                <a:solidFill>
                  <a:schemeClr val="bg1"/>
                </a:solidFill>
                <a:latin typeface="Calibri"/>
              </a:rPr>
              <a:t>Why this matters.  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Template for every equivariant graph layer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.  </a:t>
            </a:r>
            <a:r>
              <a:rPr sz="1800" b="0" dirty="0" err="1">
                <a:solidFill>
                  <a:srgbClr val="FF0000"/>
                </a:solidFill>
                <a:latin typeface="Calibri"/>
              </a:rPr>
              <a:t>GGMotion-DQPose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 adopts this template, replacing 3D positions with 6D twists.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5585" y="328586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2.12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GMN Handles Rigid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20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0882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0000"/>
                </a:solidFill>
                <a:latin typeface="Calibri"/>
              </a:rPr>
              <a:t>EGNN models free particles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. Each position updates independently.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0000"/>
                </a:solidFill>
                <a:latin typeface="Calibri"/>
              </a:rPr>
              <a:t>Skeletons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have 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rigid constraints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: 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bone lengths cannot change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GMN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works in </a:t>
            </a:r>
            <a:r>
              <a:rPr sz="2800" b="1" dirty="0" err="1">
                <a:solidFill>
                  <a:srgbClr val="FF0000"/>
                </a:solidFill>
                <a:latin typeface="Calibri"/>
              </a:rPr>
              <a:t>generalised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 coordinates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for each rigid substructure.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0000"/>
                </a:solidFill>
                <a:latin typeface="Calibri"/>
              </a:rPr>
              <a:t>Cartesian states 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are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recovered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through a 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forward-kinematics map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that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satisfies the constraints by construction.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0" dirty="0" err="1">
                <a:solidFill>
                  <a:srgbClr val="FF0000"/>
                </a:solidFill>
                <a:latin typeface="Calibri"/>
              </a:rPr>
              <a:t>GGMotion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sits in this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lineage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800" b="0" dirty="0" err="1">
                <a:solidFill>
                  <a:srgbClr val="FF0000"/>
                </a:solidFill>
                <a:latin typeface="Calibri"/>
              </a:rPr>
              <a:t>GGMotion-DQPose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inherits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the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constraint-aware structure 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and replaces the position axis with the DQ log axis.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2.13  The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Group We Care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 About: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SE(3)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21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200" b="1" dirty="0">
                <a:solidFill>
                  <a:schemeClr val="bg1"/>
                </a:solidFill>
                <a:latin typeface="Calibri"/>
              </a:rPr>
              <a:t>SE(3) = { (R, t)  :  R ∈ SO(3),  t ∈ R³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3821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dirty="0">
                <a:solidFill>
                  <a:schemeClr val="bg1"/>
                </a:solidFill>
                <a:latin typeface="Calibri"/>
              </a:rPr>
              <a:t>Variables.</a:t>
            </a:r>
          </a:p>
          <a:p>
            <a:pPr algn="l">
              <a:spcAft>
                <a:spcPts val="1000"/>
              </a:spcAft>
            </a:pPr>
            <a:r>
              <a:rPr sz="1900" b="1" dirty="0">
                <a:solidFill>
                  <a:schemeClr val="bg1"/>
                </a:solidFill>
                <a:latin typeface="Calibri"/>
              </a:rPr>
              <a:t>R ∈ SO(3)</a:t>
            </a:r>
            <a:r>
              <a:rPr sz="1900" b="0" dirty="0">
                <a:solidFill>
                  <a:schemeClr val="bg1"/>
                </a:solidFill>
                <a:latin typeface="Calibri"/>
              </a:rPr>
              <a:t>   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a </a:t>
            </a:r>
            <a:r>
              <a:rPr sz="1900" b="0" dirty="0">
                <a:solidFill>
                  <a:srgbClr val="FF0000"/>
                </a:solidFill>
                <a:latin typeface="Calibri"/>
              </a:rPr>
              <a:t>3D rotation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matrix.</a:t>
            </a:r>
          </a:p>
          <a:p>
            <a:pPr algn="l">
              <a:spcAft>
                <a:spcPts val="1000"/>
              </a:spcAft>
            </a:pPr>
            <a:r>
              <a:rPr sz="1900" b="1" dirty="0">
                <a:solidFill>
                  <a:schemeClr val="bg1"/>
                </a:solidFill>
                <a:latin typeface="Calibri"/>
              </a:rPr>
              <a:t>t ∈ R³</a:t>
            </a:r>
            <a:r>
              <a:rPr sz="1900" b="0" dirty="0">
                <a:solidFill>
                  <a:schemeClr val="bg1"/>
                </a:solidFill>
                <a:latin typeface="Calibri"/>
              </a:rPr>
              <a:t>   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a </a:t>
            </a:r>
            <a:r>
              <a:rPr sz="1900" b="0" dirty="0">
                <a:solidFill>
                  <a:srgbClr val="FF0000"/>
                </a:solidFill>
                <a:latin typeface="Calibri"/>
              </a:rPr>
              <a:t>3D translation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vector.</a:t>
            </a:r>
          </a:p>
          <a:p>
            <a:pPr algn="l">
              <a:spcAft>
                <a:spcPts val="1000"/>
              </a:spcAft>
            </a:pPr>
            <a:r>
              <a:rPr sz="1900" b="0" dirty="0">
                <a:solidFill>
                  <a:srgbClr val="FFFFFF"/>
                </a:solidFill>
                <a:latin typeface="Calibri"/>
              </a:rPr>
              <a:t>Action on a point:   </a:t>
            </a:r>
            <a:r>
              <a:rPr sz="1900" b="1" dirty="0">
                <a:solidFill>
                  <a:srgbClr val="FF0000"/>
                </a:solidFill>
                <a:latin typeface="Calibri"/>
              </a:rPr>
              <a:t>x ↦ R x + t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9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900" b="1" dirty="0">
                <a:solidFill>
                  <a:srgbClr val="FF0000"/>
                </a:solidFill>
                <a:latin typeface="Calibri"/>
              </a:rPr>
              <a:t>Intuition. 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SE(3) is the group of all rigid motions in 3D.  </a:t>
            </a:r>
            <a:r>
              <a:rPr sz="1900" b="0" dirty="0">
                <a:solidFill>
                  <a:srgbClr val="FF0000"/>
                </a:solidFill>
                <a:latin typeface="Calibri"/>
              </a:rPr>
              <a:t>Rotation followed by translation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. </a:t>
            </a:r>
            <a:r>
              <a:rPr sz="1900" b="0" dirty="0">
                <a:solidFill>
                  <a:srgbClr val="FF0000"/>
                </a:solidFill>
                <a:latin typeface="Calibri"/>
              </a:rPr>
              <a:t>No scaling, no shearing, no reflection.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 Every frame change is an element of SE(3).</a:t>
            </a:r>
          </a:p>
          <a:p>
            <a:pPr algn="l">
              <a:spcAft>
                <a:spcPts val="1000"/>
              </a:spcAft>
            </a:pPr>
            <a:r>
              <a:rPr sz="19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900" b="1" dirty="0">
                <a:solidFill>
                  <a:schemeClr val="bg1"/>
                </a:solidFill>
                <a:latin typeface="Calibri"/>
              </a:rPr>
              <a:t>Why this matters.  </a:t>
            </a:r>
            <a:r>
              <a:rPr sz="1900" b="0" dirty="0">
                <a:solidFill>
                  <a:srgbClr val="FF0000"/>
                </a:solidFill>
                <a:latin typeface="Calibri"/>
              </a:rPr>
              <a:t>Skeletal motion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is generated by joint rotations and limb translations. Reflections are not motions a real body can perform.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2.14  SE(3) Acts on Pose DQs by Left Multiplication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22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960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Unit DQs 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form a </a:t>
            </a:r>
            <a:r>
              <a:rPr sz="2800" b="1" dirty="0">
                <a:solidFill>
                  <a:schemeClr val="bg1"/>
                </a:solidFill>
                <a:latin typeface="Calibri"/>
              </a:rPr>
              <a:t>double cover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 of 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SE(3).  q̂ and -q̂ encode the same rigid motion.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The SE(3) action on a 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pose is </a:t>
            </a:r>
            <a:r>
              <a:rPr sz="2800" b="1" dirty="0">
                <a:solidFill>
                  <a:schemeClr val="bg1"/>
                </a:solidFill>
                <a:latin typeface="Calibri"/>
              </a:rPr>
              <a:t>left multiplication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:   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g · q̂  =  g ⊗ q̂.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The Lie 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algebra </a:t>
            </a:r>
            <a:r>
              <a:rPr sz="2800" b="1" dirty="0">
                <a:solidFill>
                  <a:schemeClr val="bg1"/>
                </a:solidFill>
                <a:latin typeface="Calibri"/>
              </a:rPr>
              <a:t>se(3)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 (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tangent space at identity) is 6-dimensional.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The </a:t>
            </a:r>
            <a:r>
              <a:rPr sz="2800" b="1" dirty="0">
                <a:solidFill>
                  <a:schemeClr val="bg1"/>
                </a:solidFill>
                <a:latin typeface="Calibri"/>
              </a:rPr>
              <a:t>exp / log map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 gives 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a smooth chart between se(3) and a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neighbourhood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of identity in SE(3).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This is what lets the network output 6D vectors that map back to valid poses.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0916" y="320040"/>
            <a:ext cx="117846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2.15  </a:t>
            </a:r>
            <a:r>
              <a:rPr lang="en-US" sz="3600" b="1" dirty="0">
                <a:solidFill>
                  <a:srgbClr val="FF0000"/>
                </a:solidFill>
                <a:latin typeface="Calibri"/>
              </a:rPr>
              <a:t>Human Motion Prediction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Activates All Four Ingredients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23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3400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Joints are </a:t>
            </a:r>
            <a:r>
              <a:rPr sz="2800" b="1" dirty="0">
                <a:solidFill>
                  <a:schemeClr val="bg1"/>
                </a:solidFill>
                <a:latin typeface="Calibri"/>
              </a:rPr>
              <a:t>vertices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.  Bones are </a:t>
            </a:r>
            <a:r>
              <a:rPr sz="2800" b="1" dirty="0">
                <a:solidFill>
                  <a:schemeClr val="bg1"/>
                </a:solidFill>
                <a:latin typeface="Calibri"/>
              </a:rPr>
              <a:t>edges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.  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Graph topology is fixed across frames.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A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rigid motion of the world frame should produce the same predicted trajectory in the rotated and translated frame.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Evaluation metric:  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MPJPE in </a:t>
            </a:r>
            <a:r>
              <a:rPr sz="2800" b="1" dirty="0" err="1">
                <a:solidFill>
                  <a:srgbClr val="FF0000"/>
                </a:solidFill>
                <a:latin typeface="Calibri"/>
              </a:rPr>
              <a:t>millimetres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. 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Mean Euclidean distance between predicted and ground-truth joint positions.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All ingredients align with the CMU protocol:  graph topology, equivariance target, evaluation surface.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24 / 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3657600" cy="3200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000" b="1">
                <a:solidFill>
                  <a:srgbClr val="FF0000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3013055"/>
            <a:ext cx="640080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1" dirty="0">
                <a:solidFill>
                  <a:srgbClr val="FF0000"/>
                </a:solidFill>
                <a:latin typeface="Calibri"/>
              </a:rPr>
              <a:t>Related Work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3.1  Three Threads,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Three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25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41139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dirty="0">
                <a:solidFill>
                  <a:srgbClr val="FF0000"/>
                </a:solidFill>
                <a:latin typeface="Calibri"/>
              </a:rPr>
              <a:t>Motion prediction methods. 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Sequence models on per-joint trajectories. Graph-based spatial reasoning (LTD, MSR-GCN, PGBIG). Attention variants (SANet, DA-</a:t>
            </a:r>
            <a:r>
              <a:rPr sz="1900" b="0" dirty="0" err="1">
                <a:solidFill>
                  <a:srgbClr val="FFFFFF"/>
                </a:solidFill>
                <a:latin typeface="Calibri"/>
              </a:rPr>
              <a:t>MgTCN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1900" b="0" dirty="0" err="1">
                <a:solidFill>
                  <a:srgbClr val="FFFFFF"/>
                </a:solidFill>
                <a:latin typeface="Calibri"/>
              </a:rPr>
              <a:t>StaAttention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).</a:t>
            </a:r>
          </a:p>
          <a:p>
            <a:pPr algn="l">
              <a:spcAft>
                <a:spcPts val="1000"/>
              </a:spcAft>
            </a:pPr>
            <a:r>
              <a:rPr sz="1900" b="1" dirty="0">
                <a:solidFill>
                  <a:srgbClr val="FF0000"/>
                </a:solidFill>
                <a:latin typeface="Calibri"/>
              </a:rPr>
              <a:t>Gap.  </a:t>
            </a:r>
            <a:r>
              <a:rPr sz="1900" b="0" dirty="0">
                <a:solidFill>
                  <a:srgbClr val="FF0000"/>
                </a:solidFill>
                <a:latin typeface="Calibri"/>
              </a:rPr>
              <a:t>Cartesian positions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throughout. No SE(3) guarantee.</a:t>
            </a:r>
          </a:p>
          <a:p>
            <a:pPr algn="l">
              <a:spcAft>
                <a:spcPts val="1000"/>
              </a:spcAft>
            </a:pPr>
            <a:r>
              <a:rPr sz="19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900" b="1" dirty="0">
                <a:solidFill>
                  <a:srgbClr val="FF0000"/>
                </a:solidFill>
                <a:latin typeface="Calibri"/>
              </a:rPr>
              <a:t>Equivariant GNNs for motion. 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EGNN to GMN to </a:t>
            </a:r>
            <a:r>
              <a:rPr sz="1900" b="0" dirty="0" err="1">
                <a:solidFill>
                  <a:srgbClr val="FFFFFF"/>
                </a:solidFill>
                <a:latin typeface="Calibri"/>
              </a:rPr>
              <a:t>GGMotion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 lineage. Sister branches: ESTAG, EGNO, </a:t>
            </a:r>
            <a:r>
              <a:rPr sz="1900" b="0" dirty="0" err="1">
                <a:solidFill>
                  <a:srgbClr val="FFFFFF"/>
                </a:solidFill>
                <a:latin typeface="Calibri"/>
              </a:rPr>
              <a:t>EqMotion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, SEGNO, PAINET.</a:t>
            </a:r>
          </a:p>
          <a:p>
            <a:pPr algn="l">
              <a:spcAft>
                <a:spcPts val="1000"/>
              </a:spcAft>
            </a:pPr>
            <a:r>
              <a:rPr sz="1900" b="1" dirty="0">
                <a:solidFill>
                  <a:srgbClr val="FF0000"/>
                </a:solidFill>
                <a:latin typeface="Calibri"/>
              </a:rPr>
              <a:t>Gap.  </a:t>
            </a:r>
            <a:r>
              <a:rPr sz="1900" b="0" dirty="0">
                <a:solidFill>
                  <a:srgbClr val="FF0000"/>
                </a:solidFill>
                <a:latin typeface="Calibri"/>
              </a:rPr>
              <a:t>Position-only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representation</a:t>
            </a:r>
            <a:r>
              <a:rPr sz="1900" b="0" dirty="0">
                <a:solidFill>
                  <a:srgbClr val="FF0000"/>
                </a:solidFill>
                <a:latin typeface="Calibri"/>
              </a:rPr>
              <a:t>. Orientation never represented as a first-class quantity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9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900" b="1" dirty="0">
                <a:solidFill>
                  <a:srgbClr val="FF0000"/>
                </a:solidFill>
                <a:latin typeface="Calibri"/>
              </a:rPr>
              <a:t>Dual quaternions in deep learning. 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DQ-MLP and DQ-LSTM-VAE (Vieira et al.). Quaternion GNNs (QPU, RE-QGCN, QSTGNN, QMP).</a:t>
            </a:r>
          </a:p>
          <a:p>
            <a:pPr algn="l">
              <a:spcAft>
                <a:spcPts val="1000"/>
              </a:spcAft>
            </a:pPr>
            <a:r>
              <a:rPr sz="1900" b="1" dirty="0">
                <a:solidFill>
                  <a:srgbClr val="FF0000"/>
                </a:solidFill>
                <a:latin typeface="Calibri"/>
              </a:rPr>
              <a:t>Gap.  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Either </a:t>
            </a:r>
            <a:r>
              <a:rPr sz="1900" b="0" dirty="0">
                <a:solidFill>
                  <a:srgbClr val="FF0000"/>
                </a:solidFill>
                <a:latin typeface="Calibri"/>
              </a:rPr>
              <a:t>no graph</a:t>
            </a:r>
            <a:r>
              <a:rPr sz="1900" b="0" dirty="0">
                <a:solidFill>
                  <a:srgbClr val="FFFFFF"/>
                </a:solidFill>
                <a:latin typeface="Calibri"/>
              </a:rPr>
              <a:t>, or </a:t>
            </a:r>
            <a:r>
              <a:rPr sz="1900" b="0" dirty="0">
                <a:solidFill>
                  <a:srgbClr val="FF0000"/>
                </a:solidFill>
                <a:latin typeface="Calibri"/>
              </a:rPr>
              <a:t>quaternion-only (rotation but not translation).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3.2  The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Lineage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 We Build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26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4411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EGNN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   &gt;    </a:t>
            </a:r>
            <a:r>
              <a:rPr sz="2000" b="1" dirty="0">
                <a:solidFill>
                  <a:srgbClr val="FF0000"/>
                </a:solidFill>
                <a:latin typeface="Calibri"/>
              </a:rPr>
              <a:t>GMN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   &gt;    </a:t>
            </a:r>
            <a:r>
              <a:rPr sz="2000" b="1" dirty="0" err="1">
                <a:solidFill>
                  <a:srgbClr val="FF0000"/>
                </a:solidFill>
                <a:latin typeface="Calibri"/>
              </a:rPr>
              <a:t>GGMotion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   &gt;    </a:t>
            </a:r>
            <a:r>
              <a:rPr sz="2000" b="1" dirty="0" err="1">
                <a:solidFill>
                  <a:srgbClr val="FF0000"/>
                </a:solidFill>
                <a:latin typeface="Calibri"/>
              </a:rPr>
              <a:t>GGMotion-DQPose</a:t>
            </a:r>
            <a:endParaRPr sz="2000" b="1" dirty="0">
              <a:solidFill>
                <a:srgbClr val="FF0000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endParaRPr lang="en-US" sz="2000" b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EGNN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   (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Satorras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et al., 2021):  canonical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E(n)-equivariant message-passing layer.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GMN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   (Huang et al., 2022):  </a:t>
            </a:r>
            <a:r>
              <a:rPr sz="2000" b="0" dirty="0" err="1">
                <a:solidFill>
                  <a:srgbClr val="FF0000"/>
                </a:solidFill>
                <a:latin typeface="Calibri"/>
              </a:rPr>
              <a:t>generalises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 EGNN to constraint-aware systems 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through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generalised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coordinates and forward kinematics.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000" b="1" dirty="0" err="1">
                <a:solidFill>
                  <a:srgbClr val="FF0000"/>
                </a:solidFill>
                <a:latin typeface="Calibri"/>
              </a:rPr>
              <a:t>GGMotion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   (Wan et al., 2025): 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extends GMN with hierarchical group and part attention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.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Reports 34.7 mm at 400 </a:t>
            </a:r>
            <a:r>
              <a:rPr sz="2000" b="0" dirty="0" err="1">
                <a:solidFill>
                  <a:srgbClr val="FF0000"/>
                </a:solidFill>
                <a:latin typeface="Calibri"/>
              </a:rPr>
              <a:t>ms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 on CMU. Strongest published equivariant method.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000" b="1" dirty="0" err="1">
                <a:solidFill>
                  <a:srgbClr val="FF0000"/>
                </a:solidFill>
                <a:latin typeface="Calibri"/>
              </a:rPr>
              <a:t>GGMotion-DQPose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    (this thesis):  replaces the R³ position axis with the SE(3) twist axis.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3.3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Positioning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 of This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27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3724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The </a:t>
            </a:r>
            <a:r>
              <a:rPr sz="2400" b="0" dirty="0">
                <a:solidFill>
                  <a:schemeClr val="bg1"/>
                </a:solidFill>
                <a:latin typeface="Calibri"/>
              </a:rPr>
              <a:t>literature has </a:t>
            </a:r>
            <a:r>
              <a:rPr sz="2400" b="1" dirty="0">
                <a:solidFill>
                  <a:schemeClr val="bg1"/>
                </a:solidFill>
                <a:latin typeface="Calibri"/>
              </a:rPr>
              <a:t>two of three ingredients</a:t>
            </a:r>
            <a:r>
              <a:rPr sz="2400" b="0" dirty="0">
                <a:solidFill>
                  <a:schemeClr val="bg1"/>
                </a:solidFill>
                <a:latin typeface="Calibri"/>
              </a:rPr>
              <a:t> at a time, never all three.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chemeClr val="bg1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chemeClr val="bg1"/>
                </a:solidFill>
                <a:latin typeface="Calibri"/>
              </a:rPr>
              <a:t>DQ thread.  </a:t>
            </a:r>
            <a:r>
              <a:rPr sz="2400" b="0" dirty="0">
                <a:solidFill>
                  <a:schemeClr val="bg1"/>
                </a:solidFill>
                <a:latin typeface="Calibri"/>
              </a:rPr>
              <a:t>Algebra. No graph.</a:t>
            </a: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chemeClr val="bg1"/>
                </a:solidFill>
                <a:latin typeface="Calibri"/>
              </a:rPr>
              <a:t>Quaternion-GNN thread.  </a:t>
            </a:r>
            <a:r>
              <a:rPr sz="2400" b="0" dirty="0">
                <a:solidFill>
                  <a:schemeClr val="bg1"/>
                </a:solidFill>
                <a:latin typeface="Calibri"/>
              </a:rPr>
              <a:t>Graph. Only rotation.</a:t>
            </a: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chemeClr val="bg1"/>
                </a:solidFill>
                <a:latin typeface="Calibri"/>
              </a:rPr>
              <a:t>Equivariant-GNN thread.  </a:t>
            </a:r>
            <a:r>
              <a:rPr sz="2400" b="0" dirty="0">
                <a:solidFill>
                  <a:schemeClr val="bg1"/>
                </a:solidFill>
                <a:latin typeface="Calibri"/>
              </a:rPr>
              <a:t>Graph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and symmetry. Position-only.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FF0000"/>
                </a:solidFill>
                <a:latin typeface="Calibri"/>
              </a:rPr>
              <a:t>This thesis closes all three gaps simultaneously.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A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DQ-native graph backbone with SE(3) equivariance by construction, evaluated on the standard CMU benchmark.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28 / 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3657600" cy="3200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000" b="1">
                <a:solidFill>
                  <a:srgbClr val="FF0000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3013055"/>
            <a:ext cx="640080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1" dirty="0">
                <a:solidFill>
                  <a:srgbClr val="FF0000"/>
                </a:solidFill>
                <a:latin typeface="Calibri"/>
              </a:rPr>
              <a:t>Method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4.1a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Pipeline: </a:t>
            </a:r>
            <a:r>
              <a:rPr sz="3600" b="1" dirty="0" err="1">
                <a:solidFill>
                  <a:srgbClr val="FF0000"/>
                </a:solidFill>
                <a:latin typeface="Calibri"/>
              </a:rPr>
              <a:t>GGMotion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-XYZ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29 / 81</a:t>
            </a:r>
          </a:p>
        </p:txBody>
      </p:sp>
      <p:pic>
        <p:nvPicPr>
          <p:cNvPr id="5" name="Picture 4" descr="fig_pip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963" y="1188720"/>
            <a:ext cx="9107593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297680"/>
            <a:ext cx="11064240" cy="1969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dirty="0">
                <a:solidFill>
                  <a:srgbClr val="FF0000"/>
                </a:solidFill>
                <a:latin typeface="Calibri"/>
              </a:rPr>
              <a:t>Input.  </a:t>
            </a:r>
            <a:r>
              <a:rPr sz="1700" b="0" dirty="0">
                <a:solidFill>
                  <a:srgbClr val="FF0000"/>
                </a:solidFill>
                <a:latin typeface="Calibri"/>
              </a:rPr>
              <a:t>Raw CMU motion converted to global joint positions by forward kinematics.</a:t>
            </a:r>
          </a:p>
          <a:p>
            <a:pPr algn="l">
              <a:spcAft>
                <a:spcPts val="1000"/>
              </a:spcAft>
            </a:pPr>
            <a:r>
              <a:rPr sz="1700" b="1" dirty="0">
                <a:solidFill>
                  <a:srgbClr val="FF0000"/>
                </a:solidFill>
                <a:latin typeface="Calibri"/>
              </a:rPr>
              <a:t>Internal state.  </a:t>
            </a:r>
            <a:r>
              <a:rPr sz="1700" b="0" dirty="0">
                <a:solidFill>
                  <a:srgbClr val="FF0000"/>
                </a:solidFill>
                <a:latin typeface="Calibri"/>
              </a:rPr>
              <a:t>3D Cartesian positions </a:t>
            </a:r>
            <a:r>
              <a:rPr sz="1700" b="0" dirty="0" err="1">
                <a:solidFill>
                  <a:srgbClr val="FFFFFF"/>
                </a:solidFill>
                <a:latin typeface="Calibri"/>
              </a:rPr>
              <a:t>x_i</a:t>
            </a:r>
            <a:r>
              <a:rPr sz="1700" b="0" dirty="0">
                <a:solidFill>
                  <a:srgbClr val="FFFFFF"/>
                </a:solidFill>
                <a:latin typeface="Calibri"/>
              </a:rPr>
              <a:t> ∈ R³ per </a:t>
            </a:r>
            <a:r>
              <a:rPr sz="1700" b="0" dirty="0">
                <a:solidFill>
                  <a:srgbClr val="FF0000"/>
                </a:solidFill>
                <a:latin typeface="Calibri"/>
              </a:rPr>
              <a:t>joint</a:t>
            </a:r>
            <a:r>
              <a:rPr sz="1700" b="0" dirty="0">
                <a:solidFill>
                  <a:srgbClr val="FFFFFF"/>
                </a:solidFill>
                <a:latin typeface="Calibri"/>
              </a:rPr>
              <a:t>, per frame.</a:t>
            </a:r>
          </a:p>
          <a:p>
            <a:pPr>
              <a:spcAft>
                <a:spcPts val="1000"/>
              </a:spcAft>
            </a:pPr>
            <a:r>
              <a:rPr sz="1700" b="1" dirty="0">
                <a:solidFill>
                  <a:srgbClr val="FF0000"/>
                </a:solidFill>
                <a:latin typeface="Calibri"/>
              </a:rPr>
              <a:t>Backbone.  </a:t>
            </a:r>
            <a:r>
              <a:rPr sz="1700" b="0" dirty="0">
                <a:solidFill>
                  <a:srgbClr val="FF0000"/>
                </a:solidFill>
                <a:latin typeface="Calibri"/>
              </a:rPr>
              <a:t>Four </a:t>
            </a:r>
            <a:r>
              <a:rPr sz="1700" b="0" dirty="0" err="1">
                <a:solidFill>
                  <a:srgbClr val="FF0000"/>
                </a:solidFill>
                <a:latin typeface="Calibri"/>
              </a:rPr>
              <a:t>spatio</a:t>
            </a:r>
            <a:r>
              <a:rPr sz="1700" b="0" dirty="0">
                <a:solidFill>
                  <a:srgbClr val="FF0000"/>
                </a:solidFill>
                <a:latin typeface="Calibri"/>
              </a:rPr>
              <a:t>-temporal </a:t>
            </a:r>
            <a:r>
              <a:rPr sz="1700" b="0" dirty="0" err="1">
                <a:solidFill>
                  <a:srgbClr val="FF0000"/>
                </a:solidFill>
                <a:latin typeface="Calibri"/>
              </a:rPr>
              <a:t>GGMotion</a:t>
            </a:r>
            <a:r>
              <a:rPr sz="1700" b="0" dirty="0">
                <a:solidFill>
                  <a:srgbClr val="FF0000"/>
                </a:solidFill>
                <a:latin typeface="Calibri"/>
              </a:rPr>
              <a:t> blocks (spatial / temporal / group / part attention).  Per-component 3D scales</a:t>
            </a:r>
            <a:r>
              <a:rPr lang="en-US" sz="1700" b="0" dirty="0">
                <a:solidFill>
                  <a:srgbClr val="FF0000"/>
                </a:solidFill>
                <a:latin typeface="Calibri"/>
              </a:rPr>
              <a:t> (x, y, z)</a:t>
            </a:r>
            <a:r>
              <a:rPr sz="1700" b="0" dirty="0">
                <a:solidFill>
                  <a:srgbClr val="FF0000"/>
                </a:solidFill>
                <a:latin typeface="Calibri"/>
              </a:rPr>
              <a:t>.</a:t>
            </a:r>
            <a:br>
              <a:rPr lang="en-US" sz="1700" b="0" dirty="0">
                <a:solidFill>
                  <a:srgbClr val="FFFFFF"/>
                </a:solidFill>
                <a:latin typeface="Calibri"/>
              </a:rPr>
            </a:br>
            <a:r>
              <a:rPr lang="en-CY" dirty="0">
                <a:solidFill>
                  <a:schemeClr val="bg1"/>
                </a:solidFill>
              </a:rPr>
              <a:t>spatial = neighbors on the graph, temporal = motion over time, group = between limbs, part = inside each limb. </a:t>
            </a:r>
            <a:endParaRPr sz="1700" b="0" dirty="0">
              <a:solidFill>
                <a:schemeClr val="bg1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700" b="1" dirty="0">
                <a:solidFill>
                  <a:srgbClr val="FF0000"/>
                </a:solidFill>
                <a:latin typeface="Calibri"/>
              </a:rPr>
              <a:t>Decoder.  </a:t>
            </a:r>
            <a:r>
              <a:rPr sz="1700" b="0" dirty="0">
                <a:solidFill>
                  <a:srgbClr val="FFFFFF"/>
                </a:solidFill>
                <a:latin typeface="Calibri"/>
              </a:rPr>
              <a:t>Linear projection from feature axis to predicted future positions.  </a:t>
            </a:r>
            <a:r>
              <a:rPr sz="1700" b="0" dirty="0">
                <a:solidFill>
                  <a:srgbClr val="FF0000"/>
                </a:solidFill>
                <a:latin typeface="Calibri"/>
              </a:rPr>
              <a:t>MPJPE directly.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4.1b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Pipeline: </a:t>
            </a:r>
            <a:r>
              <a:rPr sz="3600" b="1" dirty="0" err="1">
                <a:solidFill>
                  <a:srgbClr val="FF0000"/>
                </a:solidFill>
                <a:latin typeface="Calibri"/>
              </a:rPr>
              <a:t>GGMotion-DQPose</a:t>
            </a:r>
            <a:endParaRPr sz="36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30 / 81</a:t>
            </a:r>
          </a:p>
        </p:txBody>
      </p:sp>
      <p:pic>
        <p:nvPicPr>
          <p:cNvPr id="5" name="Picture 4" descr="fig_pip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963" y="1188720"/>
            <a:ext cx="9107593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297680"/>
            <a:ext cx="11064240" cy="22467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dirty="0">
                <a:solidFill>
                  <a:srgbClr val="FF0000"/>
                </a:solidFill>
                <a:latin typeface="Calibri"/>
              </a:rPr>
              <a:t>Input.  </a:t>
            </a:r>
            <a:r>
              <a:rPr sz="1700" b="0" dirty="0">
                <a:solidFill>
                  <a:srgbClr val="FFFFFF"/>
                </a:solidFill>
                <a:latin typeface="Calibri"/>
              </a:rPr>
              <a:t>Raw CMU motion</a:t>
            </a:r>
            <a:r>
              <a:rPr sz="1700" b="0" dirty="0">
                <a:solidFill>
                  <a:srgbClr val="FF0000"/>
                </a:solidFill>
                <a:latin typeface="Calibri"/>
              </a:rPr>
              <a:t>. FK produces global rotation and global position per joint. </a:t>
            </a:r>
            <a:r>
              <a:rPr sz="1700" b="0" dirty="0">
                <a:solidFill>
                  <a:srgbClr val="FFFFFF"/>
                </a:solidFill>
                <a:latin typeface="Calibri"/>
              </a:rPr>
              <a:t>Each </a:t>
            </a:r>
            <a:r>
              <a:rPr sz="1700" b="0" dirty="0">
                <a:solidFill>
                  <a:srgbClr val="FF0000"/>
                </a:solidFill>
                <a:latin typeface="Calibri"/>
              </a:rPr>
              <a:t>joint</a:t>
            </a:r>
            <a:r>
              <a:rPr sz="1700" b="0" dirty="0">
                <a:solidFill>
                  <a:srgbClr val="FFFFFF"/>
                </a:solidFill>
                <a:latin typeface="Calibri"/>
              </a:rPr>
              <a:t> becomes a </a:t>
            </a:r>
            <a:r>
              <a:rPr sz="1700" b="0" dirty="0">
                <a:solidFill>
                  <a:srgbClr val="FF0000"/>
                </a:solidFill>
                <a:latin typeface="Calibri"/>
              </a:rPr>
              <a:t>pose DQ.</a:t>
            </a:r>
          </a:p>
          <a:p>
            <a:pPr>
              <a:spcAft>
                <a:spcPts val="1000"/>
              </a:spcAft>
            </a:pPr>
            <a:r>
              <a:rPr sz="1700" b="1" dirty="0">
                <a:solidFill>
                  <a:srgbClr val="FF0000"/>
                </a:solidFill>
                <a:latin typeface="Calibri"/>
              </a:rPr>
              <a:t>Preprocessing. </a:t>
            </a:r>
            <a:r>
              <a:rPr lang="en-CY" sz="1700" dirty="0">
                <a:solidFill>
                  <a:srgbClr val="FFFFFF"/>
                </a:solidFill>
                <a:latin typeface="Calibri"/>
              </a:rPr>
              <a:t>Use the </a:t>
            </a:r>
            <a:r>
              <a:rPr lang="en-CY" sz="1700" dirty="0">
                <a:solidFill>
                  <a:srgbClr val="FF0000"/>
                </a:solidFill>
                <a:latin typeface="Calibri"/>
              </a:rPr>
              <a:t>last torso pose as reference</a:t>
            </a:r>
            <a:r>
              <a:rPr lang="en-CY" sz="1700" dirty="0">
                <a:solidFill>
                  <a:srgbClr val="FFFFFF"/>
                </a:solidFill>
                <a:latin typeface="Calibri"/>
              </a:rPr>
              <a:t>. Each </a:t>
            </a:r>
            <a:r>
              <a:rPr lang="en-CY" sz="1700" dirty="0">
                <a:solidFill>
                  <a:srgbClr val="FF0000"/>
                </a:solidFill>
                <a:latin typeface="Calibri"/>
              </a:rPr>
              <a:t>joint becomes a pose relative to the torso </a:t>
            </a:r>
            <a:r>
              <a:rPr lang="en-CY" sz="1700" dirty="0">
                <a:solidFill>
                  <a:srgbClr val="FFFFFF"/>
                </a:solidFill>
                <a:latin typeface="Calibri"/>
              </a:rPr>
              <a:t>(q̃_i = q̂_c⁻¹ ⊗ q̂_i), then a </a:t>
            </a:r>
            <a:r>
              <a:rPr lang="en-CY" sz="1700" dirty="0">
                <a:solidFill>
                  <a:srgbClr val="FF0000"/>
                </a:solidFill>
                <a:latin typeface="Calibri"/>
              </a:rPr>
              <a:t>6D log vector </a:t>
            </a:r>
            <a:r>
              <a:rPr lang="en-CY" sz="1700" dirty="0">
                <a:solidFill>
                  <a:srgbClr val="FFFFFF"/>
                </a:solidFill>
                <a:latin typeface="Calibri"/>
              </a:rPr>
              <a:t>(ξ_i = log(q̃_i) ∈ R⁶) for the backbone. The </a:t>
            </a:r>
            <a:r>
              <a:rPr lang="en-CY" sz="1700" dirty="0">
                <a:solidFill>
                  <a:srgbClr val="FF0000"/>
                </a:solidFill>
                <a:latin typeface="Calibri"/>
              </a:rPr>
              <a:t>network</a:t>
            </a:r>
            <a:r>
              <a:rPr lang="en-CY" sz="1700" dirty="0">
                <a:solidFill>
                  <a:srgbClr val="FFFFFF"/>
                </a:solidFill>
                <a:latin typeface="Calibri"/>
              </a:rPr>
              <a:t> never sees absolute world coordinates — only </a:t>
            </a:r>
            <a:r>
              <a:rPr lang="en-CY" sz="1700" dirty="0">
                <a:solidFill>
                  <a:srgbClr val="FF0000"/>
                </a:solidFill>
                <a:latin typeface="Calibri"/>
              </a:rPr>
              <a:t>how each joint moves with respect to the torso.</a:t>
            </a:r>
          </a:p>
          <a:p>
            <a:pPr>
              <a:spcAft>
                <a:spcPts val="1000"/>
              </a:spcAft>
            </a:pPr>
            <a:r>
              <a:rPr sz="1700" b="1" dirty="0">
                <a:solidFill>
                  <a:srgbClr val="FF0000"/>
                </a:solidFill>
                <a:latin typeface="Calibri"/>
              </a:rPr>
              <a:t>Backbone.  </a:t>
            </a:r>
            <a:r>
              <a:rPr sz="1700" b="0" dirty="0">
                <a:solidFill>
                  <a:srgbClr val="FF0000"/>
                </a:solidFill>
                <a:latin typeface="Calibri"/>
              </a:rPr>
              <a:t>Same four </a:t>
            </a:r>
            <a:r>
              <a:rPr sz="1700" b="0" dirty="0" err="1">
                <a:solidFill>
                  <a:srgbClr val="FF0000"/>
                </a:solidFill>
                <a:latin typeface="Calibri"/>
              </a:rPr>
              <a:t>GGMotion</a:t>
            </a:r>
            <a:r>
              <a:rPr sz="1700" b="0" dirty="0">
                <a:solidFill>
                  <a:srgbClr val="FF0000"/>
                </a:solidFill>
                <a:latin typeface="Calibri"/>
              </a:rPr>
              <a:t> blocks</a:t>
            </a:r>
            <a:r>
              <a:rPr sz="1700" b="0" dirty="0">
                <a:solidFill>
                  <a:srgbClr val="FFFFFF"/>
                </a:solidFill>
                <a:latin typeface="Calibri"/>
              </a:rPr>
              <a:t>.  6D log coordinate stream.  </a:t>
            </a:r>
            <a:r>
              <a:rPr sz="1700" b="0" dirty="0">
                <a:solidFill>
                  <a:srgbClr val="FF0000"/>
                </a:solidFill>
                <a:latin typeface="Calibri"/>
              </a:rPr>
              <a:t>Scalar per-joint scales</a:t>
            </a:r>
            <a:r>
              <a:rPr sz="17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700" b="1" dirty="0">
                <a:solidFill>
                  <a:srgbClr val="FF0000"/>
                </a:solidFill>
                <a:latin typeface="Calibri"/>
              </a:rPr>
              <a:t>Decoder. </a:t>
            </a:r>
            <a:r>
              <a:rPr lang="en-CY" sz="1700" dirty="0">
                <a:solidFill>
                  <a:srgbClr val="FF0000"/>
                </a:solidFill>
                <a:latin typeface="Calibri"/>
              </a:rPr>
              <a:t>Predict relative motion in 6D → exp to a pose → multiply by the stored torso reference q̂_c → read joint positions → MPJPE.</a:t>
            </a:r>
            <a:endParaRPr sz="1700" dirty="0">
              <a:solidFill>
                <a:srgbClr val="FF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4.2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Forward Kinematics Gives Each Joint a Full 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31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 dirty="0">
                <a:solidFill>
                  <a:schemeClr val="bg1"/>
                </a:solidFill>
                <a:latin typeface="Calibri"/>
              </a:rPr>
              <a:t>q̂_</a:t>
            </a:r>
            <a:r>
              <a:rPr sz="3000" b="1" dirty="0" err="1">
                <a:solidFill>
                  <a:schemeClr val="bg1"/>
                </a:solidFill>
                <a:latin typeface="Calibri"/>
              </a:rPr>
              <a:t>i</a:t>
            </a:r>
            <a:r>
              <a:rPr sz="3000" b="1" dirty="0">
                <a:solidFill>
                  <a:schemeClr val="bg1"/>
                </a:solidFill>
                <a:latin typeface="Calibri"/>
              </a:rPr>
              <a:t>^(t) = </a:t>
            </a:r>
            <a:r>
              <a:rPr sz="3000" b="1" dirty="0" err="1">
                <a:solidFill>
                  <a:schemeClr val="bg1"/>
                </a:solidFill>
                <a:latin typeface="Calibri"/>
              </a:rPr>
              <a:t>r_i</a:t>
            </a:r>
            <a:r>
              <a:rPr sz="3000" b="1" dirty="0">
                <a:solidFill>
                  <a:schemeClr val="bg1"/>
                </a:solidFill>
                <a:latin typeface="Calibri"/>
              </a:rPr>
              <a:t>^(t) + </a:t>
            </a:r>
            <a:r>
              <a:rPr sz="3000" b="1" dirty="0" err="1">
                <a:solidFill>
                  <a:schemeClr val="bg1"/>
                </a:solidFill>
                <a:latin typeface="Calibri"/>
              </a:rPr>
              <a:t>ε</a:t>
            </a:r>
            <a:r>
              <a:rPr sz="3000" b="1" dirty="0">
                <a:solidFill>
                  <a:schemeClr val="bg1"/>
                </a:solidFill>
                <a:latin typeface="Calibri"/>
              </a:rPr>
              <a:t> · ½ </a:t>
            </a:r>
            <a:r>
              <a:rPr sz="3000" b="1" dirty="0" err="1">
                <a:solidFill>
                  <a:schemeClr val="bg1"/>
                </a:solidFill>
                <a:latin typeface="Calibri"/>
              </a:rPr>
              <a:t>t_i</a:t>
            </a:r>
            <a:r>
              <a:rPr sz="3000" b="1" dirty="0">
                <a:solidFill>
                  <a:schemeClr val="bg1"/>
                </a:solidFill>
                <a:latin typeface="Calibri"/>
              </a:rPr>
              <a:t>^(t) ⊗ </a:t>
            </a:r>
            <a:r>
              <a:rPr sz="3000" b="1" dirty="0" err="1">
                <a:solidFill>
                  <a:schemeClr val="bg1"/>
                </a:solidFill>
                <a:latin typeface="Calibri"/>
              </a:rPr>
              <a:t>r_i</a:t>
            </a:r>
            <a:r>
              <a:rPr sz="3000" b="1" dirty="0">
                <a:solidFill>
                  <a:schemeClr val="bg1"/>
                </a:solidFill>
                <a:latin typeface="Calibri"/>
              </a:rPr>
              <a:t>^(t)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3513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dirty="0">
                <a:solidFill>
                  <a:schemeClr val="bg1"/>
                </a:solidFill>
                <a:latin typeface="Calibri"/>
              </a:rPr>
              <a:t>Variables.</a:t>
            </a:r>
          </a:p>
          <a:p>
            <a:pPr algn="l">
              <a:spcAft>
                <a:spcPts val="1000"/>
              </a:spcAft>
            </a:pPr>
            <a:r>
              <a:rPr sz="1700" b="1" dirty="0" err="1">
                <a:solidFill>
                  <a:schemeClr val="bg1"/>
                </a:solidFill>
                <a:latin typeface="Calibri"/>
              </a:rPr>
              <a:t>R_i</a:t>
            </a:r>
            <a:r>
              <a:rPr sz="1700" b="1" dirty="0">
                <a:solidFill>
                  <a:schemeClr val="bg1"/>
                </a:solidFill>
                <a:latin typeface="Calibri"/>
              </a:rPr>
              <a:t>^(t) ∈ SO(3)</a:t>
            </a:r>
            <a:r>
              <a:rPr sz="1700" b="0" dirty="0">
                <a:solidFill>
                  <a:schemeClr val="bg1"/>
                </a:solidFill>
                <a:latin typeface="Calibri"/>
              </a:rPr>
              <a:t>,  </a:t>
            </a:r>
            <a:r>
              <a:rPr sz="1700" b="1" dirty="0" err="1">
                <a:solidFill>
                  <a:schemeClr val="bg1"/>
                </a:solidFill>
                <a:latin typeface="Calibri"/>
              </a:rPr>
              <a:t>p_i</a:t>
            </a:r>
            <a:r>
              <a:rPr sz="1700" b="1" dirty="0">
                <a:solidFill>
                  <a:schemeClr val="bg1"/>
                </a:solidFill>
                <a:latin typeface="Calibri"/>
              </a:rPr>
              <a:t>^(t) ∈ R³</a:t>
            </a:r>
            <a:r>
              <a:rPr sz="1700" b="0" dirty="0">
                <a:solidFill>
                  <a:schemeClr val="bg1"/>
                </a:solidFill>
                <a:latin typeface="Calibri"/>
              </a:rPr>
              <a:t>:   </a:t>
            </a:r>
            <a:r>
              <a:rPr sz="1700" b="0" dirty="0">
                <a:solidFill>
                  <a:srgbClr val="FF0000"/>
                </a:solidFill>
                <a:latin typeface="Calibri"/>
              </a:rPr>
              <a:t>global rotation and global position of joint </a:t>
            </a:r>
            <a:r>
              <a:rPr sz="1700" b="0" dirty="0" err="1">
                <a:solidFill>
                  <a:srgbClr val="FF0000"/>
                </a:solidFill>
                <a:latin typeface="Calibri"/>
              </a:rPr>
              <a:t>i</a:t>
            </a:r>
            <a:r>
              <a:rPr sz="1700" b="0" dirty="0">
                <a:solidFill>
                  <a:srgbClr val="FF0000"/>
                </a:solidFill>
                <a:latin typeface="Calibri"/>
              </a:rPr>
              <a:t> at frame t, from FK.</a:t>
            </a:r>
          </a:p>
          <a:p>
            <a:pPr algn="l">
              <a:spcAft>
                <a:spcPts val="1000"/>
              </a:spcAft>
            </a:pPr>
            <a:r>
              <a:rPr sz="1700" b="1" dirty="0" err="1">
                <a:solidFill>
                  <a:schemeClr val="bg1"/>
                </a:solidFill>
                <a:latin typeface="Calibri"/>
              </a:rPr>
              <a:t>r_i</a:t>
            </a:r>
            <a:r>
              <a:rPr sz="1700" b="1" dirty="0">
                <a:solidFill>
                  <a:schemeClr val="bg1"/>
                </a:solidFill>
                <a:latin typeface="Calibri"/>
              </a:rPr>
              <a:t>^(t)</a:t>
            </a:r>
            <a:r>
              <a:rPr sz="1700" b="0" dirty="0">
                <a:solidFill>
                  <a:schemeClr val="bg1"/>
                </a:solidFill>
                <a:latin typeface="Calibri"/>
              </a:rPr>
              <a:t>:   unit quaternion for the global rotation.</a:t>
            </a:r>
          </a:p>
          <a:p>
            <a:pPr algn="l">
              <a:spcAft>
                <a:spcPts val="1000"/>
              </a:spcAft>
            </a:pPr>
            <a:r>
              <a:rPr sz="1700" b="1" dirty="0" err="1">
                <a:solidFill>
                  <a:schemeClr val="bg1"/>
                </a:solidFill>
                <a:latin typeface="Calibri"/>
              </a:rPr>
              <a:t>t_i</a:t>
            </a:r>
            <a:r>
              <a:rPr sz="1700" b="1" dirty="0">
                <a:solidFill>
                  <a:schemeClr val="bg1"/>
                </a:solidFill>
                <a:latin typeface="Calibri"/>
              </a:rPr>
              <a:t>^(t) = (0, </a:t>
            </a:r>
            <a:r>
              <a:rPr sz="1700" b="1" dirty="0" err="1">
                <a:solidFill>
                  <a:schemeClr val="bg1"/>
                </a:solidFill>
                <a:latin typeface="Calibri"/>
              </a:rPr>
              <a:t>p_i</a:t>
            </a:r>
            <a:r>
              <a:rPr sz="1700" b="1" dirty="0">
                <a:solidFill>
                  <a:schemeClr val="bg1"/>
                </a:solidFill>
                <a:latin typeface="Calibri"/>
              </a:rPr>
              <a:t>^(t))</a:t>
            </a:r>
            <a:r>
              <a:rPr sz="1700" b="0" dirty="0">
                <a:solidFill>
                  <a:schemeClr val="bg1"/>
                </a:solidFill>
                <a:latin typeface="Calibri"/>
              </a:rPr>
              <a:t>:   position embedded as a pure-imaginary quaternion.</a:t>
            </a:r>
          </a:p>
          <a:p>
            <a:pPr algn="l">
              <a:spcAft>
                <a:spcPts val="1000"/>
              </a:spcAft>
            </a:pPr>
            <a:r>
              <a:rPr sz="1700" b="0" dirty="0">
                <a:solidFill>
                  <a:schemeClr val="bg1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700" b="1" dirty="0">
                <a:solidFill>
                  <a:schemeClr val="bg1"/>
                </a:solidFill>
                <a:latin typeface="Calibri"/>
              </a:rPr>
              <a:t>Intuition.  </a:t>
            </a:r>
            <a:r>
              <a:rPr sz="1700" b="0" dirty="0">
                <a:solidFill>
                  <a:schemeClr val="bg1"/>
                </a:solidFill>
                <a:latin typeface="Calibri"/>
              </a:rPr>
              <a:t>Raw CMU data stores relative rotations to parents plus a root translation. We chain these root-to-leaf to recover each joint's global pose. Each </a:t>
            </a:r>
            <a:r>
              <a:rPr sz="1700" b="0" dirty="0">
                <a:solidFill>
                  <a:srgbClr val="FF0000"/>
                </a:solidFill>
                <a:latin typeface="Calibri"/>
              </a:rPr>
              <a:t>global pose is packed into one pose DQ.</a:t>
            </a:r>
          </a:p>
          <a:p>
            <a:pPr algn="l">
              <a:spcAft>
                <a:spcPts val="1000"/>
              </a:spcAft>
            </a:pPr>
            <a:r>
              <a:rPr sz="1700" b="0" dirty="0">
                <a:solidFill>
                  <a:schemeClr val="bg1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700" b="1" dirty="0">
                <a:solidFill>
                  <a:schemeClr val="bg1"/>
                </a:solidFill>
                <a:latin typeface="Calibri"/>
              </a:rPr>
              <a:t>Why this matters.  </a:t>
            </a:r>
            <a:r>
              <a:rPr sz="1700" b="0" dirty="0">
                <a:solidFill>
                  <a:schemeClr val="bg1"/>
                </a:solidFill>
                <a:latin typeface="Calibri"/>
              </a:rPr>
              <a:t>XYZ uses only the position.  </a:t>
            </a:r>
            <a:r>
              <a:rPr sz="1700" b="0" dirty="0" err="1">
                <a:solidFill>
                  <a:schemeClr val="bg1"/>
                </a:solidFill>
                <a:latin typeface="Calibri"/>
              </a:rPr>
              <a:t>DQPose</a:t>
            </a:r>
            <a:r>
              <a:rPr sz="1700" b="0" dirty="0">
                <a:solidFill>
                  <a:schemeClr val="bg1"/>
                </a:solidFill>
                <a:latin typeface="Calibri"/>
              </a:rPr>
              <a:t> uses the full pose (rotation plus position).  First step that gives the </a:t>
            </a:r>
            <a:r>
              <a:rPr sz="1700" b="0" dirty="0">
                <a:solidFill>
                  <a:srgbClr val="FF0000"/>
                </a:solidFill>
                <a:latin typeface="Calibri"/>
              </a:rPr>
              <a:t>network access to orientation as a first-class quantity.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chemeClr val="bg1"/>
                </a:solidFill>
                <a:latin typeface="Calibri"/>
              </a:rPr>
              <a:t>4.3  The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Reference Pose Removes the World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chemeClr val="bg1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chemeClr val="bg1"/>
                </a:solidFill>
                <a:latin typeface="Calibri"/>
              </a:rPr>
              <a:t>32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chemeClr val="bg1"/>
                </a:solidFill>
                <a:latin typeface="Calibri"/>
              </a:rPr>
              <a:t>q̃_i^(t) = q̂_c⁻¹ ⊗ q̂_i^(t),         ξ_i^(t) = log(q̃_i^(t)) ∈ R⁶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698480" cy="3390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dirty="0">
                <a:solidFill>
                  <a:schemeClr val="bg1"/>
                </a:solidFill>
                <a:latin typeface="Calibri"/>
              </a:rPr>
              <a:t>Variables.</a:t>
            </a:r>
          </a:p>
          <a:p>
            <a:pPr algn="l">
              <a:spcAft>
                <a:spcPts val="1000"/>
              </a:spcAft>
            </a:pPr>
            <a:r>
              <a:rPr sz="1800" b="1" dirty="0" err="1">
                <a:solidFill>
                  <a:schemeClr val="bg1"/>
                </a:solidFill>
                <a:latin typeface="Calibri"/>
              </a:rPr>
              <a:t>q̂_c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 = q̂_8^(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T_in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)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:   last observed pose of joint 8 (the torso).</a:t>
            </a:r>
          </a:p>
          <a:p>
            <a:pPr algn="l">
              <a:spcAft>
                <a:spcPts val="1000"/>
              </a:spcAft>
            </a:pPr>
            <a:r>
              <a:rPr sz="1800" b="1" dirty="0">
                <a:solidFill>
                  <a:schemeClr val="bg1"/>
                </a:solidFill>
                <a:latin typeface="Calibri"/>
              </a:rPr>
              <a:t>q̃_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i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^(t)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:   pose of joint </a:t>
            </a:r>
            <a:r>
              <a:rPr sz="1800" b="0" dirty="0" err="1">
                <a:solidFill>
                  <a:schemeClr val="bg1"/>
                </a:solidFill>
                <a:latin typeface="Calibri"/>
              </a:rPr>
              <a:t>i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 at frame t, relative to </a:t>
            </a:r>
            <a:r>
              <a:rPr sz="1800" b="0" dirty="0" err="1">
                <a:solidFill>
                  <a:schemeClr val="bg1"/>
                </a:solidFill>
                <a:latin typeface="Calibri"/>
              </a:rPr>
              <a:t>q̂_c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800" b="1" dirty="0" err="1">
                <a:solidFill>
                  <a:schemeClr val="bg1"/>
                </a:solidFill>
                <a:latin typeface="Calibri"/>
              </a:rPr>
              <a:t>ξ_i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^(t)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:   6D log coordinate of that relative pose.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chemeClr val="bg1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800" b="1" dirty="0">
                <a:solidFill>
                  <a:schemeClr val="bg1"/>
                </a:solidFill>
                <a:latin typeface="Calibri"/>
              </a:rPr>
              <a:t>Intuition.  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The network never sees where the skeleton is in the world.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  It 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sees only how each joint relates to the torso reference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.  The 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global frame 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is stored in </a:t>
            </a:r>
            <a:r>
              <a:rPr sz="1800" b="0" dirty="0" err="1">
                <a:solidFill>
                  <a:schemeClr val="bg1"/>
                </a:solidFill>
                <a:latin typeface="Calibri"/>
              </a:rPr>
              <a:t>q̂_c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 (not discarded) and 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reintroduced algebraically at the decoder.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chemeClr val="bg1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800" b="1" dirty="0">
                <a:solidFill>
                  <a:schemeClr val="bg1"/>
                </a:solidFill>
                <a:latin typeface="Calibri"/>
              </a:rPr>
              <a:t>Why this matters.  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This is the </a:t>
            </a:r>
            <a:r>
              <a:rPr sz="1800" b="0" dirty="0" err="1">
                <a:solidFill>
                  <a:schemeClr val="bg1"/>
                </a:solidFill>
                <a:latin typeface="Calibri"/>
              </a:rPr>
              <a:t>canonicalisation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 step that 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makes equivariance possible.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chemeClr val="bg1"/>
                </a:solidFill>
                <a:latin typeface="Calibri"/>
              </a:rPr>
              <a:t>4.4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Frame Cancellation Is the Load-Bearing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chemeClr val="bg1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chemeClr val="bg1"/>
                </a:solidFill>
                <a:latin typeface="Calibri"/>
              </a:rPr>
              <a:t>33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1">
                <a:solidFill>
                  <a:schemeClr val="bg1"/>
                </a:solidFill>
                <a:latin typeface="Calibri"/>
              </a:rPr>
              <a:t>( g ⊗ q̂_c )⁻¹ ⊗ ( g ⊗ q̂_i^(t) )   =   q̂_c⁻¹ ⊗ q̂_i^(t)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698480" cy="3667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dirty="0">
                <a:solidFill>
                  <a:schemeClr val="bg1"/>
                </a:solidFill>
                <a:latin typeface="Calibri"/>
              </a:rPr>
              <a:t>Variables.</a:t>
            </a:r>
          </a:p>
          <a:p>
            <a:pPr algn="l">
              <a:spcAft>
                <a:spcPts val="1000"/>
              </a:spcAft>
            </a:pPr>
            <a:r>
              <a:rPr sz="1800" b="1" dirty="0">
                <a:solidFill>
                  <a:schemeClr val="bg1"/>
                </a:solidFill>
                <a:latin typeface="Calibri"/>
              </a:rPr>
              <a:t>g ∈ SE(3)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:   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any global rigid frame change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 (rotation, translation, or both).</a:t>
            </a:r>
          </a:p>
          <a:p>
            <a:pPr algn="l">
              <a:spcAft>
                <a:spcPts val="1000"/>
              </a:spcAft>
            </a:pPr>
            <a:r>
              <a:rPr sz="1800" b="1" dirty="0">
                <a:solidFill>
                  <a:schemeClr val="bg1"/>
                </a:solidFill>
                <a:latin typeface="Calibri"/>
              </a:rPr>
              <a:t>g ⊗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q̂_c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:   reference pose after the frame change.</a:t>
            </a:r>
          </a:p>
          <a:p>
            <a:pPr algn="l">
              <a:spcAft>
                <a:spcPts val="1000"/>
              </a:spcAft>
            </a:pPr>
            <a:r>
              <a:rPr sz="1800" b="1" dirty="0">
                <a:solidFill>
                  <a:schemeClr val="bg1"/>
                </a:solidFill>
                <a:latin typeface="Calibri"/>
              </a:rPr>
              <a:t>g ⊗ q̂_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i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:   joint pose after the frame change.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chemeClr val="bg1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800" b="1" dirty="0">
                <a:solidFill>
                  <a:schemeClr val="bg1"/>
                </a:solidFill>
                <a:latin typeface="Calibri"/>
              </a:rPr>
              <a:t>Intuition.  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When 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g is applied to every pose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, it 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appears on both sides of the relative-pose computation and cancels algebraically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.  The 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network sees an identical input regardless of the global frame.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chemeClr val="bg1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800" b="1" dirty="0">
                <a:solidFill>
                  <a:schemeClr val="bg1"/>
                </a:solidFill>
                <a:latin typeface="Calibri"/>
              </a:rPr>
              <a:t>Why this matters.  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This is why </a:t>
            </a:r>
            <a:r>
              <a:rPr sz="1800" b="0" dirty="0" err="1">
                <a:solidFill>
                  <a:srgbClr val="FF0000"/>
                </a:solidFill>
                <a:latin typeface="Calibri"/>
              </a:rPr>
              <a:t>DQPose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 is exactly 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equivariant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.  The mechanism is one line of algebra, not a learned approximation.  Same cancellation applies to DQ velocities.  Every tensor the backbone sees is frame-independent.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4.5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Why </a:t>
            </a:r>
            <a:r>
              <a:rPr sz="3600" b="1" dirty="0" err="1">
                <a:solidFill>
                  <a:srgbClr val="FF0000"/>
                </a:solidFill>
                <a:latin typeface="Calibri"/>
              </a:rPr>
              <a:t>GGMotion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-XYZ Is Not SE(3)-Equivariant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34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3847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Per-component 3D scales.  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XYZ uses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learned scales on each axis independently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. 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Under rotation, axes mix.  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Per-axis scales do not commute with channel mixing by a rotation matrix.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chemeClr val="bg1"/>
                </a:solidFill>
                <a:latin typeface="Calibri"/>
              </a:rPr>
              <a:t>Learned centroid projection. 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Centroid subtraction 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is a preprocessing convention,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not an </a:t>
            </a:r>
            <a:r>
              <a:rPr sz="2000" dirty="0">
                <a:solidFill>
                  <a:srgbClr val="FF0000"/>
                </a:solidFill>
                <a:latin typeface="Calibri"/>
              </a:rPr>
              <a:t>SE(3) action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.  Learned projections of feature tensors can shift differently under translation than a true SE(3) action.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chemeClr val="bg1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chemeClr val="bg1"/>
                </a:solidFill>
                <a:latin typeface="Calibri"/>
              </a:rPr>
              <a:t>Temporal residual.  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Absolute-frame quantities can leak through the temporal pathway.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chemeClr val="bg1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chemeClr val="bg1"/>
                </a:solidFill>
                <a:latin typeface="Calibri"/>
              </a:rPr>
              <a:t>Result.  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Strong canonical-frame accuracy.  Function tied to the dataset frame.  The robustness experiment measures this empirically.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4.6  The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Backbone Operates on a 6D Log 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35 / 81</a:t>
            </a:r>
          </a:p>
        </p:txBody>
      </p:sp>
      <p:pic>
        <p:nvPicPr>
          <p:cNvPr id="5" name="Picture 4" descr="fig_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5" y="981056"/>
            <a:ext cx="6446453" cy="46591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03653" y="1083607"/>
            <a:ext cx="4951294" cy="4447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dirty="0">
                <a:solidFill>
                  <a:srgbClr val="FFFFFF"/>
                </a:solidFill>
                <a:latin typeface="Calibri"/>
              </a:rPr>
              <a:t>Same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GGMotion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block family:  spatial attention, temporal attention, group / part attention.</a:t>
            </a:r>
          </a:p>
          <a:p>
            <a:pPr algn="l">
              <a:spcAft>
                <a:spcPts val="1000"/>
              </a:spcAft>
            </a:pPr>
            <a:r>
              <a:rPr sz="2200" b="1" dirty="0">
                <a:solidFill>
                  <a:srgbClr val="FF0000"/>
                </a:solidFill>
                <a:latin typeface="Calibri"/>
              </a:rPr>
              <a:t>XYZ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:   </a:t>
            </a:r>
            <a:r>
              <a:rPr sz="2200" b="0" dirty="0">
                <a:solidFill>
                  <a:srgbClr val="FF0000"/>
                </a:solidFill>
                <a:latin typeface="Calibri"/>
              </a:rPr>
              <a:t>3D Cartesian 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streams, per-component 3D scales.</a:t>
            </a:r>
          </a:p>
          <a:p>
            <a:pPr algn="l">
              <a:spcAft>
                <a:spcPts val="1000"/>
              </a:spcAft>
            </a:pPr>
            <a:r>
              <a:rPr sz="2200" b="1" dirty="0" err="1">
                <a:solidFill>
                  <a:srgbClr val="FF0000"/>
                </a:solidFill>
                <a:latin typeface="Calibri"/>
              </a:rPr>
              <a:t>DQPose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:   </a:t>
            </a:r>
            <a:r>
              <a:rPr sz="2200" b="0" dirty="0">
                <a:solidFill>
                  <a:srgbClr val="FF0000"/>
                </a:solidFill>
                <a:latin typeface="Calibri"/>
              </a:rPr>
              <a:t>6D twist streams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, scalar per-joint scales (treats the 6D twist as a single geometric object).</a:t>
            </a:r>
          </a:p>
          <a:p>
            <a:pPr algn="l">
              <a:spcAft>
                <a:spcPts val="1000"/>
              </a:spcAft>
            </a:pPr>
            <a:r>
              <a:rPr sz="2200" b="1" dirty="0">
                <a:solidFill>
                  <a:srgbClr val="FF0000"/>
                </a:solidFill>
                <a:latin typeface="Calibri"/>
              </a:rPr>
              <a:t>Conservative design.  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Change the </a:t>
            </a:r>
            <a:r>
              <a:rPr sz="2200" b="0" dirty="0">
                <a:solidFill>
                  <a:srgbClr val="FF0000"/>
                </a:solidFill>
                <a:latin typeface="Calibri"/>
              </a:rPr>
              <a:t>minimum required to support pose DQs.  Any difference in </a:t>
            </a:r>
            <a:r>
              <a:rPr sz="2200" b="0" dirty="0" err="1">
                <a:solidFill>
                  <a:srgbClr val="FF0000"/>
                </a:solidFill>
                <a:latin typeface="Calibri"/>
              </a:rPr>
              <a:t>behaviour</a:t>
            </a:r>
            <a:r>
              <a:rPr sz="2200" b="0" dirty="0">
                <a:solidFill>
                  <a:srgbClr val="FF0000"/>
                </a:solidFill>
                <a:latin typeface="Calibri"/>
              </a:rPr>
              <a:t> traces to the representation.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4.7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DQ Velocity 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Stays in the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Same 6D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36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647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dirty="0">
                <a:solidFill>
                  <a:schemeClr val="bg1"/>
                </a:solidFill>
                <a:latin typeface="Calibri"/>
              </a:rPr>
              <a:t>Velocity in </a:t>
            </a:r>
            <a:r>
              <a:rPr sz="2800" b="0" dirty="0" err="1">
                <a:solidFill>
                  <a:schemeClr val="bg1"/>
                </a:solidFill>
                <a:latin typeface="Calibri"/>
              </a:rPr>
              <a:t>DQPose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 is not an XYZ displacement.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chemeClr val="bg1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chemeClr val="bg1"/>
                </a:solidFill>
                <a:latin typeface="Calibri"/>
              </a:rPr>
              <a:t>DQ velocity:</a:t>
            </a:r>
          </a:p>
          <a:p>
            <a:pPr algn="l">
              <a:spcAft>
                <a:spcPts val="1000"/>
              </a:spcAft>
            </a:pPr>
            <a:r>
              <a:rPr sz="2800" b="1" dirty="0" err="1">
                <a:solidFill>
                  <a:schemeClr val="bg1"/>
                </a:solidFill>
                <a:latin typeface="Calibri"/>
              </a:rPr>
              <a:t>ξ</a:t>
            </a:r>
            <a:r>
              <a:rPr sz="2800" b="1" dirty="0">
                <a:solidFill>
                  <a:schemeClr val="bg1"/>
                </a:solidFill>
                <a:latin typeface="Calibri"/>
              </a:rPr>
              <a:t>̇_</a:t>
            </a:r>
            <a:r>
              <a:rPr sz="2800" b="1" dirty="0" err="1">
                <a:solidFill>
                  <a:schemeClr val="bg1"/>
                </a:solidFill>
                <a:latin typeface="Calibri"/>
              </a:rPr>
              <a:t>i</a:t>
            </a:r>
            <a:r>
              <a:rPr sz="2800" b="1" dirty="0">
                <a:solidFill>
                  <a:schemeClr val="bg1"/>
                </a:solidFill>
                <a:latin typeface="Calibri"/>
              </a:rPr>
              <a:t>^(t)  =  log(  q̂_</a:t>
            </a:r>
            <a:r>
              <a:rPr sz="2800" b="1" dirty="0" err="1">
                <a:solidFill>
                  <a:schemeClr val="bg1"/>
                </a:solidFill>
                <a:latin typeface="Calibri"/>
              </a:rPr>
              <a:t>i</a:t>
            </a:r>
            <a:r>
              <a:rPr sz="2800" b="1" dirty="0">
                <a:solidFill>
                  <a:schemeClr val="bg1"/>
                </a:solidFill>
                <a:latin typeface="Calibri"/>
              </a:rPr>
              <a:t>^(t-1)⁻¹ ⊗ q̂_</a:t>
            </a:r>
            <a:r>
              <a:rPr sz="2800" b="1" dirty="0" err="1">
                <a:solidFill>
                  <a:schemeClr val="bg1"/>
                </a:solidFill>
                <a:latin typeface="Calibri"/>
              </a:rPr>
              <a:t>i</a:t>
            </a:r>
            <a:r>
              <a:rPr sz="2800" b="1" dirty="0">
                <a:solidFill>
                  <a:schemeClr val="bg1"/>
                </a:solidFill>
                <a:latin typeface="Calibri"/>
              </a:rPr>
              <a:t>^(t)  )  ∈ R⁶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chemeClr val="bg1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chemeClr val="bg1"/>
                </a:solidFill>
                <a:latin typeface="Calibri"/>
              </a:rPr>
              <a:t>This tells the backbone how each joint pose </a:t>
            </a:r>
            <a:r>
              <a:rPr sz="2800" b="1" dirty="0">
                <a:solidFill>
                  <a:schemeClr val="bg1"/>
                </a:solidFill>
                <a:latin typeface="Calibri"/>
              </a:rPr>
              <a:t>moves between frames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 in the same 6D pose language.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chemeClr val="bg1"/>
                </a:solidFill>
                <a:latin typeface="Calibri"/>
              </a:rPr>
              <a:t> The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same frame cancellation applies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. 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DQ velocity is invariant 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under global left-multiplication of all poses.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chemeClr val="bg1"/>
                </a:solidFill>
                <a:latin typeface="Calibri"/>
              </a:rPr>
              <a:t>4.8  The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Decoder Reconstructs Future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chemeClr val="bg1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chemeClr val="bg1"/>
                </a:solidFill>
                <a:latin typeface="Calibri"/>
              </a:rPr>
              <a:t>37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chemeClr val="bg1"/>
                </a:solidFill>
                <a:latin typeface="Calibri"/>
              </a:rPr>
              <a:t>q̂_pred^(t) = q̂_c ⊗ exp(η_i^(t)),         p̂_i^(t) = dq2pos( q̂_pred^(t)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37753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dirty="0">
                <a:solidFill>
                  <a:schemeClr val="bg1"/>
                </a:solidFill>
                <a:latin typeface="Calibri"/>
              </a:rPr>
              <a:t>Variables.</a:t>
            </a:r>
          </a:p>
          <a:p>
            <a:pPr algn="l">
              <a:spcAft>
                <a:spcPts val="1000"/>
              </a:spcAft>
            </a:pPr>
            <a:r>
              <a:rPr sz="1700" b="1" dirty="0" err="1">
                <a:solidFill>
                  <a:schemeClr val="bg1"/>
                </a:solidFill>
                <a:latin typeface="Calibri"/>
              </a:rPr>
              <a:t>η_i</a:t>
            </a:r>
            <a:r>
              <a:rPr sz="1700" b="1" dirty="0">
                <a:solidFill>
                  <a:schemeClr val="bg1"/>
                </a:solidFill>
                <a:latin typeface="Calibri"/>
              </a:rPr>
              <a:t>^(t)</a:t>
            </a:r>
            <a:r>
              <a:rPr sz="1700" b="0" dirty="0">
                <a:solidFill>
                  <a:schemeClr val="bg1"/>
                </a:solidFill>
                <a:latin typeface="Calibri"/>
              </a:rPr>
              <a:t>:   network's predicted relative future 6D coordinate.</a:t>
            </a:r>
          </a:p>
          <a:p>
            <a:pPr algn="l">
              <a:spcAft>
                <a:spcPts val="1000"/>
              </a:spcAft>
            </a:pPr>
            <a:r>
              <a:rPr sz="1700" b="1" dirty="0">
                <a:solidFill>
                  <a:schemeClr val="bg1"/>
                </a:solidFill>
                <a:latin typeface="Calibri"/>
              </a:rPr>
              <a:t>exp(</a:t>
            </a:r>
            <a:r>
              <a:rPr sz="1700" b="1" dirty="0" err="1">
                <a:solidFill>
                  <a:schemeClr val="bg1"/>
                </a:solidFill>
                <a:latin typeface="Calibri"/>
              </a:rPr>
              <a:t>η</a:t>
            </a:r>
            <a:r>
              <a:rPr sz="1700" b="1" dirty="0">
                <a:solidFill>
                  <a:schemeClr val="bg1"/>
                </a:solidFill>
                <a:latin typeface="Calibri"/>
              </a:rPr>
              <a:t>)</a:t>
            </a:r>
            <a:r>
              <a:rPr sz="1700" b="0" dirty="0">
                <a:solidFill>
                  <a:schemeClr val="bg1"/>
                </a:solidFill>
                <a:latin typeface="Calibri"/>
              </a:rPr>
              <a:t>:   a unit relative pose DQ.</a:t>
            </a:r>
          </a:p>
          <a:p>
            <a:pPr algn="l">
              <a:spcAft>
                <a:spcPts val="1000"/>
              </a:spcAft>
            </a:pPr>
            <a:r>
              <a:rPr sz="1700" b="1" dirty="0" err="1">
                <a:solidFill>
                  <a:schemeClr val="bg1"/>
                </a:solidFill>
                <a:latin typeface="Calibri"/>
              </a:rPr>
              <a:t>q̂_c</a:t>
            </a:r>
            <a:r>
              <a:rPr sz="1700" b="1" dirty="0">
                <a:solidFill>
                  <a:schemeClr val="bg1"/>
                </a:solidFill>
                <a:latin typeface="Calibri"/>
              </a:rPr>
              <a:t> ⊗ exp(</a:t>
            </a:r>
            <a:r>
              <a:rPr sz="1700" b="1" dirty="0" err="1">
                <a:solidFill>
                  <a:schemeClr val="bg1"/>
                </a:solidFill>
                <a:latin typeface="Calibri"/>
              </a:rPr>
              <a:t>η</a:t>
            </a:r>
            <a:r>
              <a:rPr sz="1700" b="1" dirty="0">
                <a:solidFill>
                  <a:schemeClr val="bg1"/>
                </a:solidFill>
                <a:latin typeface="Calibri"/>
              </a:rPr>
              <a:t>)</a:t>
            </a:r>
            <a:r>
              <a:rPr sz="1700" b="0" dirty="0">
                <a:solidFill>
                  <a:schemeClr val="bg1"/>
                </a:solidFill>
                <a:latin typeface="Calibri"/>
              </a:rPr>
              <a:t>:   global predicted pose, with the reference frame reintroduced.</a:t>
            </a:r>
          </a:p>
          <a:p>
            <a:pPr algn="l">
              <a:spcAft>
                <a:spcPts val="1000"/>
              </a:spcAft>
            </a:pPr>
            <a:r>
              <a:rPr sz="1700" b="1" dirty="0">
                <a:solidFill>
                  <a:schemeClr val="bg1"/>
                </a:solidFill>
                <a:latin typeface="Calibri"/>
              </a:rPr>
              <a:t>dq2pos</a:t>
            </a:r>
            <a:r>
              <a:rPr sz="1700" b="0" dirty="0">
                <a:solidFill>
                  <a:schemeClr val="bg1"/>
                </a:solidFill>
                <a:latin typeface="Calibri"/>
              </a:rPr>
              <a:t>:   extracts the 3D translation from the dual part of the DQ.</a:t>
            </a:r>
          </a:p>
          <a:p>
            <a:pPr algn="l">
              <a:spcAft>
                <a:spcPts val="1000"/>
              </a:spcAft>
            </a:pPr>
            <a:r>
              <a:rPr sz="1700" b="0" dirty="0">
                <a:solidFill>
                  <a:schemeClr val="bg1"/>
                </a:solidFill>
                <a:latin typeface="Calibri"/>
              </a:rPr>
              <a:t> </a:t>
            </a:r>
          </a:p>
          <a:p>
            <a:pPr>
              <a:spcAft>
                <a:spcPts val="1000"/>
              </a:spcAft>
            </a:pPr>
            <a:r>
              <a:rPr sz="1700" b="1" dirty="0">
                <a:solidFill>
                  <a:schemeClr val="bg1"/>
                </a:solidFill>
                <a:latin typeface="Calibri"/>
              </a:rPr>
              <a:t>Intuition.  </a:t>
            </a:r>
            <a:r>
              <a:rPr sz="1700" b="0" dirty="0">
                <a:solidFill>
                  <a:schemeClr val="bg1"/>
                </a:solidFill>
                <a:latin typeface="Calibri"/>
              </a:rPr>
              <a:t>The </a:t>
            </a:r>
            <a:r>
              <a:rPr sz="1700" b="0" dirty="0">
                <a:solidFill>
                  <a:srgbClr val="FF0000"/>
                </a:solidFill>
                <a:latin typeface="Calibri"/>
              </a:rPr>
              <a:t>backbone predicts in the flat reference-relative coordinate space</a:t>
            </a:r>
            <a:r>
              <a:rPr sz="1700" b="0" dirty="0">
                <a:solidFill>
                  <a:schemeClr val="bg1"/>
                </a:solidFill>
                <a:latin typeface="Calibri"/>
              </a:rPr>
              <a:t>.  </a:t>
            </a:r>
            <a:r>
              <a:rPr sz="1700" b="0" dirty="0">
                <a:solidFill>
                  <a:srgbClr val="FF0000"/>
                </a:solidFill>
                <a:latin typeface="Calibri"/>
              </a:rPr>
              <a:t>Exp turns it back into a valid pose.  Composition with </a:t>
            </a:r>
            <a:r>
              <a:rPr sz="1700" b="0" dirty="0" err="1">
                <a:solidFill>
                  <a:srgbClr val="FF0000"/>
                </a:solidFill>
                <a:latin typeface="Calibri"/>
              </a:rPr>
              <a:t>q̂_</a:t>
            </a:r>
            <a:r>
              <a:rPr sz="1700" dirty="0" err="1">
                <a:solidFill>
                  <a:srgbClr val="FF0000"/>
                </a:solidFill>
                <a:latin typeface="Calibri"/>
              </a:rPr>
              <a:t>c</a:t>
            </a:r>
            <a:r>
              <a:rPr sz="1700" dirty="0">
                <a:solidFill>
                  <a:srgbClr val="FF0000"/>
                </a:solidFill>
                <a:latin typeface="Calibri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libri"/>
              </a:rPr>
              <a:t>(</a:t>
            </a:r>
            <a:r>
              <a:rPr lang="en-CY" sz="1700" dirty="0">
                <a:solidFill>
                  <a:srgbClr val="FF0000"/>
                </a:solidFill>
                <a:latin typeface="Calibri"/>
              </a:rPr>
              <a:t>reference pose dual quaternion — the last observed torso pose in the input window) </a:t>
            </a:r>
            <a:r>
              <a:rPr sz="1700" dirty="0">
                <a:solidFill>
                  <a:srgbClr val="FF0000"/>
                </a:solidFill>
                <a:latin typeface="Calibri"/>
              </a:rPr>
              <a:t>restores the global frame algebraically.  Position is extracted</a:t>
            </a:r>
            <a:r>
              <a:rPr sz="1700" dirty="0">
                <a:solidFill>
                  <a:schemeClr val="bg1"/>
                </a:solidFill>
                <a:latin typeface="Calibri"/>
              </a:rPr>
              <a:t> only at </a:t>
            </a:r>
            <a:r>
              <a:rPr sz="1700" b="0" dirty="0">
                <a:solidFill>
                  <a:schemeClr val="bg1"/>
                </a:solidFill>
                <a:latin typeface="Calibri"/>
              </a:rPr>
              <a:t>the end, </a:t>
            </a:r>
            <a:r>
              <a:rPr sz="1700" b="0" dirty="0">
                <a:solidFill>
                  <a:srgbClr val="FF0000"/>
                </a:solidFill>
                <a:latin typeface="Calibri"/>
              </a:rPr>
              <a:t>for MPJPE.</a:t>
            </a:r>
          </a:p>
          <a:p>
            <a:pPr algn="l">
              <a:spcAft>
                <a:spcPts val="1000"/>
              </a:spcAft>
            </a:pPr>
            <a:r>
              <a:rPr sz="1700" b="1" dirty="0">
                <a:solidFill>
                  <a:schemeClr val="bg1"/>
                </a:solidFill>
                <a:latin typeface="Calibri"/>
              </a:rPr>
              <a:t>Why this matters.  </a:t>
            </a:r>
            <a:r>
              <a:rPr sz="1700" b="0" dirty="0">
                <a:solidFill>
                  <a:srgbClr val="FF0000"/>
                </a:solidFill>
                <a:latin typeface="Calibri"/>
              </a:rPr>
              <a:t>Encoder removes the frame. Decoder mirrors it.  Algebraic restoration is what makes equivariance hold end to end.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4.9  The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Training Loss 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Keeps the Comparison Honest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38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53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Position loss (dominant).  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L₂ on decoded positions.  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L_pos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= (1 / NT)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Σ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‖ p̂ - p ‖₂.   Both models use it.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Bone-vector loss (auxiliary).  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L₁ on parent-child bone differences. 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Preserves skeleton structure.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DQ </a:t>
            </a:r>
            <a:r>
              <a:rPr sz="2000" b="1" dirty="0" err="1">
                <a:solidFill>
                  <a:srgbClr val="FF0000"/>
                </a:solidFill>
                <a:latin typeface="Calibri"/>
              </a:rPr>
              <a:t>regularisers</a:t>
            </a:r>
            <a:r>
              <a:rPr sz="2000" b="1" dirty="0">
                <a:solidFill>
                  <a:srgbClr val="FF0000"/>
                </a:solidFill>
                <a:latin typeface="Calibri"/>
              </a:rPr>
              <a:t> (</a:t>
            </a:r>
            <a:r>
              <a:rPr sz="2000" b="1" dirty="0" err="1">
                <a:solidFill>
                  <a:srgbClr val="FF0000"/>
                </a:solidFill>
                <a:latin typeface="Calibri"/>
              </a:rPr>
              <a:t>DQPose</a:t>
            </a:r>
            <a:r>
              <a:rPr sz="2000" b="1" dirty="0">
                <a:solidFill>
                  <a:srgbClr val="FF0000"/>
                </a:solidFill>
                <a:latin typeface="Calibri"/>
              </a:rPr>
              <a:t> only, </a:t>
            </a:r>
            <a:r>
              <a:rPr sz="2000" b="1" dirty="0">
                <a:solidFill>
                  <a:schemeClr val="bg1"/>
                </a:solidFill>
                <a:latin typeface="Calibri"/>
              </a:rPr>
              <a:t>from epoch 11).  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Light DQ pose geodesic and DQ velocity terms.  Weights 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λ_dq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= 0.005,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λ_vel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= 0.005.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chemeClr val="bg1"/>
                </a:solidFill>
                <a:latin typeface="Calibri"/>
              </a:rPr>
              <a:t>The DQ terms are supportive.  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Dominant 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pressure is decoded-position MPJPE.  Keeps both models comparable under the same metric.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chemeClr val="bg1"/>
                </a:solidFill>
                <a:latin typeface="Calibri"/>
              </a:rPr>
              <a:t>4.10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SE(3) Equivariance Theorem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chemeClr val="bg1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chemeClr val="bg1"/>
                </a:solidFill>
                <a:latin typeface="Calibri"/>
              </a:rPr>
              <a:t>39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chemeClr val="bg1"/>
                </a:solidFill>
                <a:latin typeface="Calibri"/>
              </a:rPr>
              <a:t>Theorem.  </a:t>
            </a:r>
            <a:r>
              <a:rPr sz="2200" b="0">
                <a:solidFill>
                  <a:schemeClr val="bg1"/>
                </a:solidFill>
                <a:latin typeface="Calibri"/>
              </a:rPr>
              <a:t>Let f denote GGMotion-DQPose. Let  g ∈ SE(3)  act on every input pose by left multiplication.  Then  </a:t>
            </a:r>
            <a:r>
              <a:rPr sz="2200" b="1">
                <a:solidFill>
                  <a:schemeClr val="bg1"/>
                </a:solidFill>
                <a:latin typeface="Calibri"/>
              </a:rPr>
              <a:t>f( g · q̂ )  =  g · f( q̂ )</a:t>
            </a:r>
            <a:r>
              <a:rPr sz="2200" b="0">
                <a:solidFill>
                  <a:schemeClr val="bg1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2985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dirty="0">
                <a:solidFill>
                  <a:schemeClr val="bg1"/>
                </a:solidFill>
                <a:latin typeface="Calibri"/>
              </a:rPr>
              <a:t>Proof in three steps.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chemeClr val="bg1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800" b="1" dirty="0">
                <a:solidFill>
                  <a:schemeClr val="bg1"/>
                </a:solidFill>
                <a:latin typeface="Calibri"/>
              </a:rPr>
              <a:t>1.   Cancellation.  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Every relative pose passed to the network is unchanged by g (see 4.4).</a:t>
            </a:r>
          </a:p>
          <a:p>
            <a:pPr algn="l">
              <a:spcAft>
                <a:spcPts val="1000"/>
              </a:spcAft>
            </a:pPr>
            <a:r>
              <a:rPr sz="1800" b="1" dirty="0">
                <a:solidFill>
                  <a:schemeClr val="bg1"/>
                </a:solidFill>
                <a:latin typeface="Calibri"/>
              </a:rPr>
              <a:t>2.   Backbone.  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The learned tensor is identical, so the backbone predicts the same relative future twists.</a:t>
            </a:r>
          </a:p>
          <a:p>
            <a:pPr algn="l">
              <a:spcAft>
                <a:spcPts val="1000"/>
              </a:spcAft>
            </a:pPr>
            <a:r>
              <a:rPr sz="1800" b="1" dirty="0">
                <a:solidFill>
                  <a:schemeClr val="bg1"/>
                </a:solidFill>
                <a:latin typeface="Calibri"/>
              </a:rPr>
              <a:t>3.   Decoder.  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The transformed run composes predictions with the transformed reference pose, so output positions transform by g.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chemeClr val="bg1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800" b="1" dirty="0">
                <a:solidFill>
                  <a:schemeClr val="bg1"/>
                </a:solidFill>
                <a:latin typeface="Calibri"/>
              </a:rPr>
              <a:t>Empirical verification.  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Random SE(3) transforms applied to the input.  Discrepancy at numerical precision.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40 / 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3657600" cy="3200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000" b="1">
                <a:solidFill>
                  <a:srgbClr val="FF0000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3013055"/>
            <a:ext cx="640080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1" dirty="0">
                <a:solidFill>
                  <a:srgbClr val="FF0000"/>
                </a:solidFill>
                <a:latin typeface="Calibri"/>
              </a:rPr>
              <a:t>Experimental Setup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5.1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CMU 8-Action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41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411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dirty="0">
                <a:solidFill>
                  <a:srgbClr val="FF0000"/>
                </a:solidFill>
                <a:latin typeface="Calibri"/>
              </a:rPr>
              <a:t>Dataset.  </a:t>
            </a:r>
            <a:r>
              <a:rPr sz="2200" b="0" dirty="0">
                <a:solidFill>
                  <a:srgbClr val="FF0000"/>
                </a:solidFill>
                <a:latin typeface="Calibri"/>
              </a:rPr>
              <a:t>CMU Motion Capture.</a:t>
            </a:r>
          </a:p>
          <a:p>
            <a:pPr algn="l">
              <a:spcAft>
                <a:spcPts val="1000"/>
              </a:spcAft>
            </a:pP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200" b="1" dirty="0">
                <a:solidFill>
                  <a:srgbClr val="FF0000"/>
                </a:solidFill>
                <a:latin typeface="Calibri"/>
              </a:rPr>
              <a:t>Actions.  </a:t>
            </a:r>
            <a:r>
              <a:rPr sz="2200" b="0" dirty="0">
                <a:solidFill>
                  <a:srgbClr val="FF0000"/>
                </a:solidFill>
                <a:latin typeface="Calibri"/>
              </a:rPr>
              <a:t>basketball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, basketball signal, directing traffic, jumping, running, soccer, walking,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washwindow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200" b="1" dirty="0">
                <a:solidFill>
                  <a:srgbClr val="FF0000"/>
                </a:solidFill>
                <a:latin typeface="Calibri"/>
              </a:rPr>
              <a:t>Protocol.  </a:t>
            </a:r>
            <a:r>
              <a:rPr sz="2200" b="0" dirty="0">
                <a:solidFill>
                  <a:srgbClr val="FF0000"/>
                </a:solidFill>
                <a:latin typeface="Calibri"/>
              </a:rPr>
              <a:t>10 observed frames in, 10 predicted frames out, at 25 fps.</a:t>
            </a:r>
          </a:p>
          <a:p>
            <a:pPr algn="l">
              <a:spcAft>
                <a:spcPts val="1000"/>
              </a:spcAft>
            </a:pP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200" b="1" dirty="0">
                <a:solidFill>
                  <a:srgbClr val="FF0000"/>
                </a:solidFill>
                <a:latin typeface="Calibri"/>
              </a:rPr>
              <a:t>Horizons.  </a:t>
            </a:r>
            <a:r>
              <a:rPr sz="2200" b="0" dirty="0">
                <a:solidFill>
                  <a:srgbClr val="FF0000"/>
                </a:solidFill>
                <a:latin typeface="Calibri"/>
              </a:rPr>
              <a:t>80, 160, 320, 400 </a:t>
            </a:r>
            <a:r>
              <a:rPr sz="2200" b="0" dirty="0" err="1">
                <a:solidFill>
                  <a:srgbClr val="FF0000"/>
                </a:solidFill>
                <a:latin typeface="Calibri"/>
              </a:rPr>
              <a:t>ms</a:t>
            </a:r>
            <a:r>
              <a:rPr sz="2200" b="0" dirty="0">
                <a:solidFill>
                  <a:srgbClr val="FF0000"/>
                </a:solidFill>
                <a:latin typeface="Calibri"/>
              </a:rPr>
              <a:t>  (the 2nd, 4th, 8th, 10th predicted frames).</a:t>
            </a:r>
          </a:p>
          <a:p>
            <a:pPr algn="l">
              <a:spcAft>
                <a:spcPts val="1000"/>
              </a:spcAft>
            </a:pP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200" b="1" dirty="0">
                <a:solidFill>
                  <a:schemeClr val="bg1"/>
                </a:solidFill>
                <a:latin typeface="Calibri"/>
              </a:rPr>
              <a:t>Split.  </a:t>
            </a:r>
            <a:r>
              <a:rPr sz="2200" b="0" dirty="0">
                <a:solidFill>
                  <a:schemeClr val="bg1"/>
                </a:solidFill>
                <a:latin typeface="Calibri"/>
              </a:rPr>
              <a:t>Standard 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Li et al. train / test split, used unmodified.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5.2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Skeleton Topology: 25 In, 38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42 / 81</a:t>
            </a:r>
          </a:p>
        </p:txBody>
      </p:sp>
      <p:pic>
        <p:nvPicPr>
          <p:cNvPr id="5" name="Picture 4" descr="fig_skele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555140"/>
            <a:ext cx="4754880" cy="4296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371600"/>
            <a:ext cx="6400800" cy="415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dirty="0">
                <a:solidFill>
                  <a:srgbClr val="FFFFFF"/>
                </a:solidFill>
                <a:latin typeface="Calibri"/>
              </a:rPr>
              <a:t>Raw CMU motion has </a:t>
            </a:r>
            <a:r>
              <a:rPr sz="2200" b="1" dirty="0">
                <a:solidFill>
                  <a:srgbClr val="FF0000"/>
                </a:solidFill>
                <a:latin typeface="Calibri"/>
              </a:rPr>
              <a:t>38 joints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200" b="0" dirty="0">
                <a:solidFill>
                  <a:srgbClr val="FFFFFF"/>
                </a:solidFill>
                <a:latin typeface="Calibri"/>
              </a:rPr>
              <a:t>Following LTD and PGBIG, we drop </a:t>
            </a:r>
            <a:r>
              <a:rPr sz="2200" b="1" dirty="0">
                <a:solidFill>
                  <a:srgbClr val="FF0000"/>
                </a:solidFill>
                <a:latin typeface="Calibri"/>
              </a:rPr>
              <a:t>13 auxiliary joints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(root, end effectors, intermediate spine).</a:t>
            </a:r>
          </a:p>
          <a:p>
            <a:pPr algn="l">
              <a:spcAft>
                <a:spcPts val="1000"/>
              </a:spcAft>
            </a:pP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200" b="0" dirty="0">
                <a:solidFill>
                  <a:srgbClr val="FFFFFF"/>
                </a:solidFill>
                <a:latin typeface="Calibri"/>
              </a:rPr>
              <a:t>Model trains and runs inference on the </a:t>
            </a:r>
            <a:r>
              <a:rPr sz="2200" b="1" dirty="0">
                <a:solidFill>
                  <a:srgbClr val="FF0000"/>
                </a:solidFill>
                <a:latin typeface="Calibri"/>
              </a:rPr>
              <a:t>25-joint subset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200" b="0" dirty="0">
                <a:solidFill>
                  <a:srgbClr val="FFFFFF"/>
                </a:solidFill>
                <a:latin typeface="Calibri"/>
              </a:rPr>
              <a:t>At reporting time the </a:t>
            </a:r>
            <a:r>
              <a:rPr sz="2200" b="0" dirty="0">
                <a:solidFill>
                  <a:srgbClr val="FF0000"/>
                </a:solidFill>
                <a:latin typeface="Calibri"/>
              </a:rPr>
              <a:t>13 auxiliary joints are restored 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(7 by duplication, 6 from ground truth) to form the </a:t>
            </a:r>
            <a:r>
              <a:rPr sz="2200" b="1" dirty="0">
                <a:solidFill>
                  <a:srgbClr val="FF0000"/>
                </a:solidFill>
                <a:latin typeface="Calibri"/>
              </a:rPr>
              <a:t>38-joint MPJPE skeleton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5.3 </a:t>
            </a:r>
            <a:r>
              <a:rPr lang="en-CY" sz="3600" b="1" dirty="0">
                <a:solidFill>
                  <a:srgbClr val="FF0000"/>
                </a:solidFill>
                <a:latin typeface="Calibri"/>
              </a:rPr>
              <a:t>Mean Per Joint Position Error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Is the Evaluation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43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400" b="1" dirty="0">
                <a:solidFill>
                  <a:schemeClr val="bg1"/>
                </a:solidFill>
                <a:latin typeface="Calibri"/>
              </a:rPr>
              <a:t>MPJPE  =  (1 / |J|)  </a:t>
            </a:r>
            <a:r>
              <a:rPr sz="3400" b="1" dirty="0" err="1">
                <a:solidFill>
                  <a:schemeClr val="bg1"/>
                </a:solidFill>
                <a:latin typeface="Calibri"/>
              </a:rPr>
              <a:t>Σ_j</a:t>
            </a:r>
            <a:r>
              <a:rPr sz="3400" b="1" dirty="0">
                <a:solidFill>
                  <a:schemeClr val="bg1"/>
                </a:solidFill>
                <a:latin typeface="Calibri"/>
              </a:rPr>
              <a:t>  ‖ </a:t>
            </a:r>
            <a:r>
              <a:rPr sz="3400" b="1" dirty="0" err="1">
                <a:solidFill>
                  <a:schemeClr val="bg1"/>
                </a:solidFill>
                <a:latin typeface="Calibri"/>
              </a:rPr>
              <a:t>x̂_j</a:t>
            </a:r>
            <a:r>
              <a:rPr sz="3400" b="1" dirty="0">
                <a:solidFill>
                  <a:schemeClr val="bg1"/>
                </a:solidFill>
                <a:latin typeface="Calibri"/>
              </a:rPr>
              <a:t> - </a:t>
            </a:r>
            <a:r>
              <a:rPr sz="3400" b="1" dirty="0" err="1">
                <a:solidFill>
                  <a:schemeClr val="bg1"/>
                </a:solidFill>
                <a:latin typeface="Calibri"/>
              </a:rPr>
              <a:t>x_j</a:t>
            </a:r>
            <a:r>
              <a:rPr sz="3400" b="1" dirty="0">
                <a:solidFill>
                  <a:schemeClr val="bg1"/>
                </a:solidFill>
                <a:latin typeface="Calibri"/>
              </a:rPr>
              <a:t> ‖₂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698480" cy="41139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dirty="0">
                <a:solidFill>
                  <a:schemeClr val="bg1"/>
                </a:solidFill>
                <a:latin typeface="Calibri"/>
              </a:rPr>
              <a:t>Variables.</a:t>
            </a:r>
          </a:p>
          <a:p>
            <a:pPr algn="l">
              <a:spcAft>
                <a:spcPts val="1000"/>
              </a:spcAft>
            </a:pPr>
            <a:r>
              <a:rPr sz="1900" b="1" dirty="0">
                <a:solidFill>
                  <a:schemeClr val="bg1"/>
                </a:solidFill>
                <a:latin typeface="Calibri"/>
              </a:rPr>
              <a:t>J</a:t>
            </a:r>
            <a:r>
              <a:rPr sz="1900" b="0" dirty="0">
                <a:solidFill>
                  <a:schemeClr val="bg1"/>
                </a:solidFill>
                <a:latin typeface="Calibri"/>
              </a:rPr>
              <a:t>:   evaluated joint set (38 joints).</a:t>
            </a:r>
          </a:p>
          <a:p>
            <a:pPr algn="l">
              <a:spcAft>
                <a:spcPts val="1000"/>
              </a:spcAft>
            </a:pPr>
            <a:r>
              <a:rPr sz="1900" b="1" dirty="0" err="1">
                <a:solidFill>
                  <a:schemeClr val="bg1"/>
                </a:solidFill>
                <a:latin typeface="Calibri"/>
              </a:rPr>
              <a:t>x̂_j</a:t>
            </a:r>
            <a:r>
              <a:rPr sz="1900" b="0" dirty="0">
                <a:solidFill>
                  <a:schemeClr val="bg1"/>
                </a:solidFill>
                <a:latin typeface="Calibri"/>
              </a:rPr>
              <a:t>:   predicted 3D position of joint j, in </a:t>
            </a:r>
            <a:r>
              <a:rPr sz="1900" b="0" dirty="0" err="1">
                <a:solidFill>
                  <a:schemeClr val="bg1"/>
                </a:solidFill>
                <a:latin typeface="Calibri"/>
              </a:rPr>
              <a:t>millimetres</a:t>
            </a:r>
            <a:r>
              <a:rPr sz="1900" b="0" dirty="0">
                <a:solidFill>
                  <a:schemeClr val="bg1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900" b="1" dirty="0" err="1">
                <a:solidFill>
                  <a:schemeClr val="bg1"/>
                </a:solidFill>
                <a:latin typeface="Calibri"/>
              </a:rPr>
              <a:t>x_j</a:t>
            </a:r>
            <a:r>
              <a:rPr sz="1900" b="0" dirty="0">
                <a:solidFill>
                  <a:schemeClr val="bg1"/>
                </a:solidFill>
                <a:latin typeface="Calibri"/>
              </a:rPr>
              <a:t>:   ground-truth 3D position of joint j.</a:t>
            </a:r>
          </a:p>
          <a:p>
            <a:pPr algn="l">
              <a:spcAft>
                <a:spcPts val="1000"/>
              </a:spcAft>
            </a:pPr>
            <a:r>
              <a:rPr sz="1900" b="0" dirty="0">
                <a:solidFill>
                  <a:schemeClr val="bg1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900" b="1" dirty="0">
                <a:solidFill>
                  <a:schemeClr val="bg1"/>
                </a:solidFill>
                <a:latin typeface="Calibri"/>
              </a:rPr>
              <a:t>Intuition.  </a:t>
            </a:r>
            <a:r>
              <a:rPr sz="1900" b="0" dirty="0">
                <a:solidFill>
                  <a:srgbClr val="FF0000"/>
                </a:solidFill>
                <a:latin typeface="Calibri"/>
              </a:rPr>
              <a:t>Average distance in </a:t>
            </a:r>
            <a:r>
              <a:rPr sz="1900" b="0" dirty="0" err="1">
                <a:solidFill>
                  <a:srgbClr val="FF0000"/>
                </a:solidFill>
                <a:latin typeface="Calibri"/>
              </a:rPr>
              <a:t>millimetres</a:t>
            </a:r>
            <a:r>
              <a:rPr sz="1900" b="0" dirty="0">
                <a:solidFill>
                  <a:srgbClr val="FF0000"/>
                </a:solidFill>
                <a:latin typeface="Calibri"/>
              </a:rPr>
              <a:t> between where the model predicted each joint and where it actually was. </a:t>
            </a:r>
            <a:r>
              <a:rPr sz="1900" b="0" dirty="0">
                <a:solidFill>
                  <a:schemeClr val="bg1"/>
                </a:solidFill>
                <a:latin typeface="Calibri"/>
              </a:rPr>
              <a:t>Lower is better.  Reported at four horizons.  </a:t>
            </a:r>
            <a:r>
              <a:rPr sz="1900" b="0" dirty="0" err="1">
                <a:solidFill>
                  <a:schemeClr val="bg1"/>
                </a:solidFill>
                <a:latin typeface="Calibri"/>
              </a:rPr>
              <a:t>DQPose</a:t>
            </a:r>
            <a:r>
              <a:rPr sz="1900" b="0" dirty="0">
                <a:solidFill>
                  <a:schemeClr val="bg1"/>
                </a:solidFill>
                <a:latin typeface="Calibri"/>
              </a:rPr>
              <a:t> is evaluated by decoded positions; the metric is fair to both models.</a:t>
            </a:r>
          </a:p>
          <a:p>
            <a:pPr algn="l">
              <a:spcAft>
                <a:spcPts val="1000"/>
              </a:spcAft>
            </a:pPr>
            <a:r>
              <a:rPr sz="1900" b="0" dirty="0">
                <a:solidFill>
                  <a:schemeClr val="bg1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900" b="1" dirty="0">
                <a:solidFill>
                  <a:schemeClr val="bg1"/>
                </a:solidFill>
                <a:latin typeface="Calibri"/>
              </a:rPr>
              <a:t>Why this matters.  </a:t>
            </a:r>
            <a:r>
              <a:rPr sz="1900" b="0" dirty="0">
                <a:solidFill>
                  <a:schemeClr val="bg1"/>
                </a:solidFill>
                <a:latin typeface="Calibri"/>
              </a:rPr>
              <a:t>Standard CMU metric.  Keeps </a:t>
            </a:r>
            <a:r>
              <a:rPr sz="1900" b="0" dirty="0" err="1">
                <a:solidFill>
                  <a:schemeClr val="bg1"/>
                </a:solidFill>
                <a:latin typeface="Calibri"/>
              </a:rPr>
              <a:t>GGMotion-DQPose</a:t>
            </a:r>
            <a:r>
              <a:rPr sz="1900" b="0" dirty="0">
                <a:solidFill>
                  <a:schemeClr val="bg1"/>
                </a:solidFill>
                <a:latin typeface="Calibri"/>
              </a:rPr>
              <a:t> directly comparable to all published baselines.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5.4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Published Baselines on the Same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44 / 81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67544"/>
              </p:ext>
            </p:extLst>
          </p:nvPr>
        </p:nvGraphicFramePr>
        <p:xfrm>
          <a:off x="820396" y="881926"/>
          <a:ext cx="10332720" cy="527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6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6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65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0000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  <a:latin typeface="Calibri"/>
                        </a:rPr>
                        <a:t>80 ms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  <a:latin typeface="Calibri"/>
                        </a:rPr>
                        <a:t>160 ms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  <a:latin typeface="Calibri"/>
                        </a:rPr>
                        <a:t>320 ms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  <a:latin typeface="Calibri"/>
                        </a:rPr>
                        <a:t>400 ms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SANet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7.1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13.2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26.8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34.1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GGMotion (published)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7.1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13.2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27.0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34.7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DA-MgTCN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14.0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28.1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34.8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PGBIG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7.6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14.3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29.0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36.6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StaAttention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14.7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29.4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37.2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MSR-GCN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8.8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FFFFFF"/>
                          </a:solidFill>
                          <a:latin typeface="Calibri"/>
                        </a:rPr>
                        <a:t>15.9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30.4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FFFFFF"/>
                          </a:solidFill>
                          <a:latin typeface="Calibri"/>
                        </a:rPr>
                        <a:t>37.9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0000"/>
                          </a:solidFill>
                          <a:latin typeface="Calibri"/>
                        </a:rPr>
                        <a:t>GGMotion-XYZ (ours)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  <a:latin typeface="Calibri"/>
                        </a:rPr>
                        <a:t>7.2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  <a:latin typeface="Calibri"/>
                        </a:rPr>
                        <a:t>13.3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  <a:latin typeface="Calibri"/>
                        </a:rPr>
                        <a:t>27.4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  <a:latin typeface="Calibri"/>
                        </a:rPr>
                        <a:t>35.3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0000"/>
                          </a:solidFill>
                          <a:latin typeface="Calibri"/>
                        </a:rPr>
                        <a:t>GGMotion-DQPose (ours)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  <a:latin typeface="Calibri"/>
                        </a:rPr>
                        <a:t>8.4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  <a:latin typeface="Calibri"/>
                        </a:rPr>
                        <a:t>15.7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  <a:latin typeface="Calibri"/>
                        </a:rPr>
                        <a:t>32.4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</a:rPr>
                        <a:t>41.8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5.5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Fairness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45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0000"/>
                </a:solidFill>
                <a:latin typeface="Calibri"/>
              </a:rPr>
              <a:t>1.   Same backbone.  </a:t>
            </a:r>
            <a:r>
              <a:rPr sz="2000" b="0">
                <a:solidFill>
                  <a:srgbClr val="FFFFFF"/>
                </a:solidFill>
                <a:latin typeface="Calibri"/>
              </a:rPr>
              <a:t>Same layer count, hidden dimension, equivariant feature dimension, graph topology, temporal embedding, group / part attention, future-window projection.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0000"/>
                </a:solidFill>
                <a:latin typeface="Calibri"/>
              </a:rPr>
              <a:t>2.   Same hyperparameters.  </a:t>
            </a:r>
            <a:r>
              <a:rPr sz="2000" b="0">
                <a:solidFill>
                  <a:srgbClr val="FFFFFF"/>
                </a:solidFill>
                <a:latin typeface="Calibri"/>
              </a:rPr>
              <a:t>Optimisation, data, architecture.  Only representation-driven rows differ.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0000"/>
                </a:solidFill>
                <a:latin typeface="Calibri"/>
              </a:rPr>
              <a:t>3.   Same benchmark objective.  </a:t>
            </a:r>
            <a:r>
              <a:rPr sz="2000" b="0">
                <a:solidFill>
                  <a:srgbClr val="FFFFFF"/>
                </a:solidFill>
                <a:latin typeface="Calibri"/>
              </a:rPr>
              <a:t>Both models selected and reported by the same decoded-position MPJPE at the same four horizons.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0000"/>
                </a:solidFill>
                <a:latin typeface="Calibri"/>
              </a:rPr>
              <a:t>4.   Identical evaluation.  </a:t>
            </a:r>
            <a:r>
              <a:rPr sz="2000" b="0">
                <a:solidFill>
                  <a:srgbClr val="FFFFFF"/>
                </a:solidFill>
                <a:latin typeface="Calibri"/>
              </a:rPr>
              <a:t>Same script, same 25-joint output, same 38-joint MPJPE reconstruction, no model-specific adjustments.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5.6  </a:t>
            </a:r>
            <a:r>
              <a:rPr lang="en-US" sz="3600" b="1" dirty="0">
                <a:solidFill>
                  <a:srgbClr val="FF0000"/>
                </a:solidFill>
                <a:latin typeface="Calibri"/>
              </a:rPr>
              <a:t>Same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Training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46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667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dirty="0" err="1">
                <a:solidFill>
                  <a:schemeClr val="bg1"/>
                </a:solidFill>
                <a:latin typeface="Calibri"/>
              </a:rPr>
              <a:t>Optimiser</a:t>
            </a:r>
            <a:r>
              <a:rPr sz="2000" b="1" dirty="0">
                <a:solidFill>
                  <a:schemeClr val="bg1"/>
                </a:solidFill>
                <a:latin typeface="Calibri"/>
              </a:rPr>
              <a:t>.  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Adam.   Initial LR  3 × 10⁻⁴.   Weight decay  10⁻⁵.</a:t>
            </a: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chemeClr val="bg1"/>
                </a:solidFill>
                <a:latin typeface="Calibri"/>
              </a:rPr>
              <a:t>LR schedule.  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Step at 19 milestones, factor 0.88 per step.</a:t>
            </a: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chemeClr val="bg1"/>
                </a:solidFill>
                <a:latin typeface="Calibri"/>
              </a:rPr>
              <a:t>Gradient clipping.  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Max norm 1.0.</a:t>
            </a: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chemeClr val="bg1"/>
                </a:solidFill>
                <a:latin typeface="Calibri"/>
              </a:rPr>
              <a:t>Seed.  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1234567890 (</a:t>
            </a:r>
            <a:r>
              <a:rPr sz="2000" b="0" dirty="0" err="1">
                <a:solidFill>
                  <a:schemeClr val="bg1"/>
                </a:solidFill>
                <a:latin typeface="Calibri"/>
              </a:rPr>
              <a:t>GGMotion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 default).</a:t>
            </a: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chemeClr val="bg1"/>
                </a:solidFill>
                <a:latin typeface="Calibri"/>
              </a:rPr>
              <a:t>Budget.  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50 epochs.</a:t>
            </a:r>
          </a:p>
          <a:p>
            <a:pPr algn="l">
              <a:spcAft>
                <a:spcPts val="1000"/>
              </a:spcAft>
            </a:pPr>
            <a:r>
              <a:rPr sz="2000" b="1" dirty="0" err="1">
                <a:solidFill>
                  <a:schemeClr val="bg1"/>
                </a:solidFill>
                <a:latin typeface="Calibri"/>
              </a:rPr>
              <a:t>DQPose</a:t>
            </a:r>
            <a:r>
              <a:rPr sz="2000" b="1" dirty="0">
                <a:solidFill>
                  <a:schemeClr val="bg1"/>
                </a:solidFill>
                <a:latin typeface="Calibri"/>
              </a:rPr>
              <a:t> early stop.  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Start 12, patience 5, </a:t>
            </a:r>
            <a:r>
              <a:rPr sz="2000" b="0" dirty="0" err="1">
                <a:solidFill>
                  <a:schemeClr val="bg1"/>
                </a:solidFill>
                <a:latin typeface="Calibri"/>
              </a:rPr>
              <a:t>δ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 = 0.05 mm.  Triggers at epoch 23.</a:t>
            </a: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chemeClr val="bg1"/>
                </a:solidFill>
                <a:latin typeface="Calibri"/>
              </a:rPr>
              <a:t>Best checkpoints.  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XYZ epoch 19.  </a:t>
            </a:r>
            <a:r>
              <a:rPr sz="2000" b="0" dirty="0" err="1">
                <a:solidFill>
                  <a:schemeClr val="bg1"/>
                </a:solidFill>
                <a:latin typeface="Calibri"/>
              </a:rPr>
              <a:t>DQPose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 epoch 22.</a:t>
            </a: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chemeClr val="bg1"/>
                </a:solidFill>
                <a:latin typeface="Calibri"/>
              </a:rPr>
              <a:t>Hardware.  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NVIDIA RTX A5000 (training, </a:t>
            </a:r>
            <a:r>
              <a:rPr sz="2000" b="0" dirty="0" err="1">
                <a:solidFill>
                  <a:schemeClr val="bg1"/>
                </a:solidFill>
                <a:latin typeface="Calibri"/>
              </a:rPr>
              <a:t>RunPod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).  Apple M1 Max CPU (evaluation, equivariance, robustness).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47 / 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3657600" cy="3200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000" b="1">
                <a:solidFill>
                  <a:srgbClr val="FF0000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3013055"/>
            <a:ext cx="640080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1" dirty="0">
                <a:solidFill>
                  <a:srgbClr val="FF0000"/>
                </a:solidFill>
                <a:latin typeface="Calibri"/>
              </a:rPr>
              <a:t>Results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6.1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Canonical Accuracy: XYZ Is Stronger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48 / 81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142208"/>
              </p:ext>
            </p:extLst>
          </p:nvPr>
        </p:nvGraphicFramePr>
        <p:xfrm>
          <a:off x="914400" y="1463040"/>
          <a:ext cx="10332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6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6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65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chemeClr val="bg1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chemeClr val="bg1"/>
                          </a:solidFill>
                          <a:latin typeface="Calibri"/>
                        </a:rPr>
                        <a:t>80 ms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chemeClr val="bg1"/>
                          </a:solidFill>
                          <a:latin typeface="Calibri"/>
                        </a:rPr>
                        <a:t>160 ms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 dirty="0">
                          <a:solidFill>
                            <a:schemeClr val="bg1"/>
                          </a:solidFill>
                          <a:latin typeface="Calibri"/>
                        </a:rPr>
                        <a:t>320 </a:t>
                      </a:r>
                      <a:r>
                        <a:rPr sz="2600" b="1" dirty="0" err="1">
                          <a:solidFill>
                            <a:schemeClr val="bg1"/>
                          </a:solidFill>
                          <a:latin typeface="Calibri"/>
                        </a:rPr>
                        <a:t>ms</a:t>
                      </a:r>
                      <a:endParaRPr sz="2600" b="1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chemeClr val="bg1"/>
                          </a:solidFill>
                          <a:latin typeface="Calibri"/>
                        </a:rPr>
                        <a:t>400 ms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2600" b="0" dirty="0" err="1">
                          <a:solidFill>
                            <a:schemeClr val="bg1"/>
                          </a:solidFill>
                          <a:latin typeface="Calibri"/>
                        </a:rPr>
                        <a:t>GGMotion</a:t>
                      </a:r>
                      <a:r>
                        <a:rPr sz="2600" b="0" dirty="0">
                          <a:solidFill>
                            <a:schemeClr val="bg1"/>
                          </a:solidFill>
                          <a:latin typeface="Calibri"/>
                        </a:rPr>
                        <a:t>-XYZ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chemeClr val="bg1"/>
                          </a:solidFill>
                          <a:latin typeface="Calibri"/>
                        </a:rPr>
                        <a:t>7.2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chemeClr val="bg1"/>
                          </a:solidFill>
                          <a:latin typeface="Calibri"/>
                        </a:rPr>
                        <a:t>13.3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chemeClr val="bg1"/>
                          </a:solidFill>
                          <a:latin typeface="Calibri"/>
                        </a:rPr>
                        <a:t>27.4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chemeClr val="bg1"/>
                          </a:solidFill>
                          <a:latin typeface="Calibri"/>
                        </a:rPr>
                        <a:t>35.3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2600" b="0" dirty="0" err="1">
                          <a:solidFill>
                            <a:schemeClr val="bg1"/>
                          </a:solidFill>
                          <a:latin typeface="Calibri"/>
                        </a:rPr>
                        <a:t>GGMotion-DQPose</a:t>
                      </a:r>
                      <a:endParaRPr sz="2600" b="0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chemeClr val="bg1"/>
                          </a:solidFill>
                          <a:latin typeface="Calibri"/>
                        </a:rPr>
                        <a:t>8.4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chemeClr val="bg1"/>
                          </a:solidFill>
                          <a:latin typeface="Calibri"/>
                        </a:rPr>
                        <a:t>15.7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chemeClr val="bg1"/>
                          </a:solidFill>
                          <a:latin typeface="Calibri"/>
                        </a:rPr>
                        <a:t>32.4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 dirty="0">
                          <a:solidFill>
                            <a:schemeClr val="bg1"/>
                          </a:solidFill>
                          <a:latin typeface="Calibri"/>
                        </a:rPr>
                        <a:t>41.8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06240"/>
            <a:ext cx="11064240" cy="1272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dirty="0" err="1">
                <a:solidFill>
                  <a:srgbClr val="FF0000"/>
                </a:solidFill>
                <a:latin typeface="Calibri"/>
              </a:rPr>
              <a:t>GGMotion</a:t>
            </a:r>
            <a:r>
              <a:rPr sz="2200" b="1" dirty="0">
                <a:solidFill>
                  <a:srgbClr val="FF0000"/>
                </a:solidFill>
                <a:latin typeface="Calibri"/>
              </a:rPr>
              <a:t>-XYZ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reaches </a:t>
            </a:r>
            <a:r>
              <a:rPr sz="2200" b="1" dirty="0">
                <a:solidFill>
                  <a:srgbClr val="FF0000"/>
                </a:solidFill>
                <a:latin typeface="Calibri"/>
              </a:rPr>
              <a:t>35.3 mm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at 400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ms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200" b="0" dirty="0">
                <a:solidFill>
                  <a:srgbClr val="FF0000"/>
                </a:solidFill>
                <a:latin typeface="Calibri"/>
              </a:rPr>
              <a:t>within 0.6 mm of the published 34.7 mm.</a:t>
            </a:r>
          </a:p>
          <a:p>
            <a:pPr algn="l">
              <a:spcAft>
                <a:spcPts val="1000"/>
              </a:spcAft>
            </a:pP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0000"/>
                </a:solidFill>
                <a:latin typeface="Calibri"/>
              </a:rPr>
              <a:t>GGMotion-DQPose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reaches </a:t>
            </a:r>
            <a:r>
              <a:rPr sz="2200" b="1" dirty="0">
                <a:solidFill>
                  <a:srgbClr val="FF0000"/>
                </a:solidFill>
                <a:latin typeface="Calibri"/>
              </a:rPr>
              <a:t>41.8 mm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:   a </a:t>
            </a:r>
            <a:r>
              <a:rPr sz="2200" b="1" dirty="0">
                <a:solidFill>
                  <a:srgbClr val="FF0000"/>
                </a:solidFill>
                <a:latin typeface="Calibri"/>
              </a:rPr>
              <a:t>6.5 mm gap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200" b="0" dirty="0">
                <a:solidFill>
                  <a:srgbClr val="FFFFFF"/>
                </a:solidFill>
                <a:latin typeface="Calibri"/>
              </a:rPr>
              <a:t> The </a:t>
            </a:r>
            <a:r>
              <a:rPr sz="2200" b="0" dirty="0">
                <a:solidFill>
                  <a:srgbClr val="FF0000"/>
                </a:solidFill>
                <a:latin typeface="Calibri"/>
              </a:rPr>
              <a:t>gap grows with horizon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 Canonical MPJPE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favours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XYZ. Robustness is next.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6.2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Training Convergence: Both Models 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49 / 81</a:t>
            </a:r>
          </a:p>
        </p:txBody>
      </p:sp>
      <p:pic>
        <p:nvPicPr>
          <p:cNvPr id="5" name="Picture 4" descr="training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08620"/>
            <a:ext cx="7040880" cy="27722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463040"/>
            <a:ext cx="3931920" cy="4411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dirty="0">
                <a:solidFill>
                  <a:schemeClr val="bg1"/>
                </a:solidFill>
                <a:latin typeface="Calibri"/>
              </a:rPr>
              <a:t>Both models reach a </a:t>
            </a:r>
            <a:r>
              <a:rPr sz="2000" b="1" dirty="0">
                <a:solidFill>
                  <a:schemeClr val="bg1"/>
                </a:solidFill>
                <a:latin typeface="Calibri"/>
              </a:rPr>
              <a:t>stable validation region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chemeClr val="bg1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chemeClr val="bg1"/>
                </a:solidFill>
                <a:latin typeface="Calibri"/>
              </a:rPr>
              <a:t>Neither model collapses.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chemeClr val="bg1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000" b="0" dirty="0" err="1">
                <a:solidFill>
                  <a:schemeClr val="bg1"/>
                </a:solidFill>
                <a:latin typeface="Calibri"/>
              </a:rPr>
              <a:t>DQPose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 remains above XYZ throughout.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chemeClr val="bg1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chemeClr val="bg1"/>
                </a:solidFill>
                <a:latin typeface="Calibri"/>
              </a:rPr>
              <a:t>Reported checkpoints:</a:t>
            </a: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chemeClr val="bg1"/>
                </a:solidFill>
                <a:latin typeface="Calibri"/>
              </a:rPr>
              <a:t>XYZ epoch 19</a:t>
            </a:r>
          </a:p>
          <a:p>
            <a:pPr algn="l">
              <a:spcAft>
                <a:spcPts val="1000"/>
              </a:spcAft>
            </a:pPr>
            <a:r>
              <a:rPr sz="2000" b="1" dirty="0" err="1">
                <a:solidFill>
                  <a:schemeClr val="bg1"/>
                </a:solidFill>
                <a:latin typeface="Calibri"/>
              </a:rPr>
              <a:t>DQPose</a:t>
            </a:r>
            <a:r>
              <a:rPr sz="2000" b="1" dirty="0">
                <a:solidFill>
                  <a:schemeClr val="bg1"/>
                </a:solidFill>
                <a:latin typeface="Calibri"/>
              </a:rPr>
              <a:t> epoch 22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6.3  Rollout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Convergence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 by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50 / 81</a:t>
            </a:r>
          </a:p>
        </p:txBody>
      </p:sp>
      <p:pic>
        <p:nvPicPr>
          <p:cNvPr id="5" name="Picture 4" descr="rollout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38101"/>
            <a:ext cx="7040880" cy="49133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463040"/>
            <a:ext cx="3931920" cy="29751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Each curve: 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validation MPJPE 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per prediction horizon.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000" b="0" dirty="0" err="1">
                <a:solidFill>
                  <a:srgbClr val="FF0000"/>
                </a:solidFill>
                <a:latin typeface="Calibri"/>
              </a:rPr>
              <a:t>DQPose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 gap 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is present 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at </a:t>
            </a:r>
            <a:r>
              <a:rPr sz="2000" b="1" dirty="0">
                <a:solidFill>
                  <a:schemeClr val="bg1"/>
                </a:solidFill>
                <a:latin typeface="Calibri"/>
              </a:rPr>
              <a:t>every horizon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throughout training.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The gap </a:t>
            </a:r>
            <a:r>
              <a:rPr sz="2000" b="1" dirty="0">
                <a:solidFill>
                  <a:srgbClr val="FF0000"/>
                </a:solidFill>
                <a:latin typeface="Calibri"/>
              </a:rPr>
              <a:t>grows at longer horizons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, matching the test-set pattern.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6.4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Reading the Accuracy Figures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51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3499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Each action accuracy figure is a grid.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FF0000"/>
                </a:solidFill>
                <a:latin typeface="Calibri"/>
              </a:rPr>
              <a:t>Columns: 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input window plus the four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horizons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 (80, 160, 320, 400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ms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).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FF0000"/>
                </a:solidFill>
                <a:latin typeface="Calibri"/>
              </a:rPr>
              <a:t>Rows:   </a:t>
            </a:r>
            <a:r>
              <a:rPr lang="en-US" sz="2400" b="1" dirty="0">
                <a:solidFill>
                  <a:srgbClr val="FF0000"/>
                </a:solidFill>
                <a:latin typeface="Calibri"/>
              </a:rPr>
              <a:t>Model.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DQPose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on top.  XYZ on bottom.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400" b="1" dirty="0" err="1">
                <a:solidFill>
                  <a:srgbClr val="FF0000"/>
                </a:solidFill>
                <a:latin typeface="Calibri"/>
              </a:rPr>
              <a:t>Colours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:  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green = ground truth,  dashed = prediction,  grey = observed input context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Use these as qualitative evidence beside the MPJPE table.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6.5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Accuracy: Walking</a:t>
            </a:r>
            <a:r>
              <a:rPr lang="en-US" sz="3600" b="1" dirty="0">
                <a:solidFill>
                  <a:srgbClr val="FF0000"/>
                </a:solidFill>
                <a:latin typeface="Calibri"/>
              </a:rPr>
              <a:t> {figure}</a:t>
            </a:r>
            <a:endParaRPr sz="36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52 / 81</a:t>
            </a:r>
          </a:p>
        </p:txBody>
      </p:sp>
      <p:pic>
        <p:nvPicPr>
          <p:cNvPr id="5" name="Picture 4" descr="accuracy_fig_both_wal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080" y="1188720"/>
            <a:ext cx="97193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69280"/>
            <a:ext cx="11064240" cy="682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dirty="0">
                <a:solidFill>
                  <a:schemeClr val="bg1"/>
                </a:solidFill>
                <a:latin typeface="Calibri"/>
              </a:rPr>
              <a:t>Walking is the 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clearest representative locomotion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 action.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chemeClr val="bg1"/>
                </a:solidFill>
                <a:latin typeface="Calibri"/>
              </a:rPr>
              <a:t>Both models keep plausible skeleton geometry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.  XYZ closer:  </a:t>
            </a:r>
            <a:r>
              <a:rPr lang="en-US" sz="1800" b="0" dirty="0">
                <a:solidFill>
                  <a:srgbClr val="FF0000"/>
                </a:solidFill>
                <a:latin typeface="Calibri"/>
              </a:rPr>
              <a:t>24.3 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 vs </a:t>
            </a:r>
            <a:r>
              <a:rPr lang="en-US" sz="1800" b="0" dirty="0">
                <a:solidFill>
                  <a:srgbClr val="FF0000"/>
                </a:solidFill>
                <a:latin typeface="Calibri"/>
              </a:rPr>
              <a:t>32.4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mm at 400 </a:t>
            </a:r>
            <a:r>
              <a:rPr sz="1800" b="0" dirty="0" err="1">
                <a:solidFill>
                  <a:srgbClr val="FF0000"/>
                </a:solidFill>
                <a:latin typeface="Calibri"/>
              </a:rPr>
              <a:t>ms.</a:t>
            </a:r>
            <a:endParaRPr sz="1800" b="0" dirty="0">
              <a:solidFill>
                <a:srgbClr val="FF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6.6  Accuracy: Walking (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Video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53 / 81</a:t>
            </a:r>
          </a:p>
        </p:txBody>
      </p:sp>
      <p:pic>
        <p:nvPicPr>
          <p:cNvPr id="5" name="accuracy_vid_both_walking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23847" y="1188720"/>
            <a:ext cx="9144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10642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dirty="0">
                <a:solidFill>
                  <a:srgbClr val="FF0000"/>
                </a:solidFill>
                <a:latin typeface="Calibri"/>
              </a:rPr>
              <a:t>Diagnostic as motion.  </a:t>
            </a:r>
            <a:r>
              <a:rPr sz="1800" b="0" dirty="0" err="1">
                <a:solidFill>
                  <a:schemeClr val="bg1"/>
                </a:solidFill>
                <a:latin typeface="Calibri"/>
              </a:rPr>
              <a:t>DQPose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 plays plausibly. XYZ tracks ground truth more tightly.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6.7  Accuracy: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Running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54 / 81</a:t>
            </a:r>
          </a:p>
        </p:txBody>
      </p:sp>
      <p:pic>
        <p:nvPicPr>
          <p:cNvPr id="5" name="Picture 4" descr="accuracy_fig_both_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080" y="1188720"/>
            <a:ext cx="9719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6.8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Accuracy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Jumping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55 / 81</a:t>
            </a:r>
          </a:p>
        </p:txBody>
      </p:sp>
      <p:pic>
        <p:nvPicPr>
          <p:cNvPr id="5" name="Picture 4" descr="accuracy_fig_both_jum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080" y="1188720"/>
            <a:ext cx="9719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6.9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Perturbation Protocol for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56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960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dirty="0">
                <a:solidFill>
                  <a:srgbClr val="FF0000"/>
                </a:solidFill>
                <a:latin typeface="Calibri"/>
              </a:rPr>
              <a:t>1.   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Apply  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SE(3) frame change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to the input.  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Same physical motion, different coordinate frame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2.  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Predict  in the changed frame.   No retraining, 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no fine-tuning.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3.  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Evaluate MPJPE  in the changed frame against the correspondingly transformed ground truth.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An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equivariant model's MPJPE should stay 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constant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</a:rPr>
              <a:t>Two sweeps. 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Rotation 0° to 180° in 10° steps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(random axis, seed 42).  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Translation 0 to 5 m in 0.5 m steps 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(random direction, seed 99).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6.10  Main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Robustness </a:t>
            </a:r>
            <a:r>
              <a:rPr lang="en-US" sz="3600" b="1" dirty="0">
                <a:solidFill>
                  <a:srgbClr val="FF0000"/>
                </a:solidFill>
                <a:latin typeface="Calibri"/>
              </a:rPr>
              <a:t>{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Plot</a:t>
            </a:r>
            <a:r>
              <a:rPr lang="en-US" sz="3600" b="1" dirty="0">
                <a:solidFill>
                  <a:srgbClr val="FF0000"/>
                </a:solidFill>
                <a:latin typeface="Calibri"/>
              </a:rPr>
              <a:t>}</a:t>
            </a:r>
            <a:endParaRPr sz="36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57 / 81</a:t>
            </a:r>
          </a:p>
        </p:txBody>
      </p:sp>
      <p:pic>
        <p:nvPicPr>
          <p:cNvPr id="5" name="Picture 4" descr="robustness_400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029" y="1188720"/>
            <a:ext cx="8597462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0"/>
            <a:ext cx="11064240" cy="10874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dirty="0" err="1">
                <a:solidFill>
                  <a:srgbClr val="FF0000"/>
                </a:solidFill>
                <a:latin typeface="Calibri"/>
              </a:rPr>
              <a:t>DQPose</a:t>
            </a:r>
            <a:r>
              <a:rPr sz="1800" b="1" dirty="0">
                <a:solidFill>
                  <a:srgbClr val="FF0000"/>
                </a:solidFill>
                <a:latin typeface="Calibri"/>
              </a:rPr>
              <a:t> stays flat at 41.8 mm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across the full rotation sweep and the full translation sweep.</a:t>
            </a:r>
          </a:p>
          <a:p>
            <a:pPr algn="l">
              <a:spcAft>
                <a:spcPts val="1000"/>
              </a:spcAft>
            </a:pPr>
            <a:r>
              <a:rPr sz="1800" b="1" dirty="0">
                <a:solidFill>
                  <a:srgbClr val="FF0000"/>
                </a:solidFill>
                <a:latin typeface="Calibri"/>
              </a:rPr>
              <a:t>XYZ rotation:   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rises to </a:t>
            </a:r>
            <a:r>
              <a:rPr sz="1800" b="1" dirty="0">
                <a:solidFill>
                  <a:srgbClr val="FF0000"/>
                </a:solidFill>
                <a:latin typeface="Calibri"/>
              </a:rPr>
              <a:t>47.8 mm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 near 100°.  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Partial 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recovery to 40.3 mm at 180°.</a:t>
            </a:r>
          </a:p>
          <a:p>
            <a:pPr algn="l">
              <a:spcAft>
                <a:spcPts val="1000"/>
              </a:spcAft>
            </a:pPr>
            <a:r>
              <a:rPr sz="1800" b="1" dirty="0">
                <a:solidFill>
                  <a:srgbClr val="FF0000"/>
                </a:solidFill>
                <a:latin typeface="Calibri"/>
              </a:rPr>
              <a:t>XYZ translation:   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rises to </a:t>
            </a:r>
            <a:r>
              <a:rPr sz="1800" b="1" dirty="0">
                <a:solidFill>
                  <a:srgbClr val="FF0000"/>
                </a:solidFill>
                <a:latin typeface="Calibri"/>
              </a:rPr>
              <a:t>2074 mm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at 5 m.  A 49.6× ratio relative to </a:t>
            </a:r>
            <a:r>
              <a:rPr sz="1800" b="0" dirty="0" err="1">
                <a:solidFill>
                  <a:srgbClr val="FF0000"/>
                </a:solidFill>
                <a:latin typeface="Calibri"/>
              </a:rPr>
              <a:t>DQPose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6.11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Translation Exposes Absolute Coordinate Dependence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58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dirty="0">
                <a:solidFill>
                  <a:srgbClr val="FFFFFF"/>
                </a:solidFill>
                <a:latin typeface="Calibri"/>
              </a:rPr>
              <a:t>A </a:t>
            </a:r>
            <a:r>
              <a:rPr sz="2200" b="1" dirty="0">
                <a:solidFill>
                  <a:srgbClr val="FF0000"/>
                </a:solidFill>
                <a:latin typeface="Calibri"/>
              </a:rPr>
              <a:t>5 m global translation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0" dirty="0">
                <a:solidFill>
                  <a:srgbClr val="FF0000"/>
                </a:solidFill>
                <a:latin typeface="Calibri"/>
              </a:rPr>
              <a:t>does not change the physical motion.</a:t>
            </a:r>
          </a:p>
          <a:p>
            <a:pPr algn="l">
              <a:spcAft>
                <a:spcPts val="1000"/>
              </a:spcAft>
            </a:pP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200" b="1" dirty="0" err="1">
                <a:solidFill>
                  <a:srgbClr val="FF0000"/>
                </a:solidFill>
                <a:latin typeface="Calibri"/>
              </a:rPr>
              <a:t>DQPose</a:t>
            </a:r>
            <a:r>
              <a:rPr sz="2200" b="1" dirty="0">
                <a:solidFill>
                  <a:srgbClr val="FF0000"/>
                </a:solidFill>
                <a:latin typeface="Calibri"/>
              </a:rPr>
              <a:t>.  </a:t>
            </a:r>
            <a:r>
              <a:rPr sz="2200" b="0" dirty="0">
                <a:solidFill>
                  <a:srgbClr val="FF0000"/>
                </a:solidFill>
                <a:latin typeface="Calibri"/>
              </a:rPr>
              <a:t>Cancels the translation through the reference-relative pose path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. 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q̂_c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absorbs the offset.</a:t>
            </a:r>
          </a:p>
          <a:p>
            <a:pPr algn="l">
              <a:spcAft>
                <a:spcPts val="1000"/>
              </a:spcAft>
            </a:pPr>
            <a:r>
              <a:rPr sz="2200" b="1" dirty="0">
                <a:solidFill>
                  <a:srgbClr val="FF0000"/>
                </a:solidFill>
                <a:latin typeface="Calibri"/>
              </a:rPr>
              <a:t>XYZ.  </a:t>
            </a:r>
            <a:r>
              <a:rPr sz="2200" b="0" dirty="0">
                <a:solidFill>
                  <a:srgbClr val="FF0000"/>
                </a:solidFill>
                <a:latin typeface="Calibri"/>
              </a:rPr>
              <a:t>Exposes hidden dependence on absolute coordinate values.</a:t>
            </a:r>
          </a:p>
          <a:p>
            <a:pPr algn="l">
              <a:spcAft>
                <a:spcPts val="1000"/>
              </a:spcAft>
            </a:pPr>
            <a:r>
              <a:rPr sz="22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200" b="1" dirty="0">
                <a:solidFill>
                  <a:schemeClr val="bg1"/>
                </a:solidFill>
                <a:latin typeface="Calibri"/>
              </a:rPr>
              <a:t>Numbers:</a:t>
            </a:r>
          </a:p>
          <a:p>
            <a:pPr algn="l">
              <a:spcAft>
                <a:spcPts val="1000"/>
              </a:spcAft>
            </a:pPr>
            <a:r>
              <a:rPr sz="2200" b="0" dirty="0" err="1">
                <a:solidFill>
                  <a:schemeClr val="bg1"/>
                </a:solidFill>
                <a:latin typeface="Calibri"/>
              </a:rPr>
              <a:t>DQPose</a:t>
            </a:r>
            <a:r>
              <a:rPr sz="2200" b="0" dirty="0">
                <a:solidFill>
                  <a:schemeClr val="bg1"/>
                </a:solidFill>
                <a:latin typeface="Calibri"/>
              </a:rPr>
              <a:t> flat at  </a:t>
            </a:r>
            <a:r>
              <a:rPr sz="2200" b="1" dirty="0">
                <a:solidFill>
                  <a:schemeClr val="bg1"/>
                </a:solidFill>
                <a:latin typeface="Calibri"/>
              </a:rPr>
              <a:t>41.8 mm</a:t>
            </a:r>
            <a:r>
              <a:rPr sz="2200" b="0" dirty="0">
                <a:solidFill>
                  <a:schemeClr val="bg1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200" b="0" dirty="0">
                <a:solidFill>
                  <a:schemeClr val="bg1"/>
                </a:solidFill>
                <a:latin typeface="Calibri"/>
              </a:rPr>
              <a:t>XYZ at 0.5 m:   </a:t>
            </a:r>
            <a:r>
              <a:rPr sz="2200" b="1" dirty="0">
                <a:solidFill>
                  <a:schemeClr val="bg1"/>
                </a:solidFill>
                <a:latin typeface="Calibri"/>
              </a:rPr>
              <a:t>67.9 mm</a:t>
            </a:r>
            <a:r>
              <a:rPr sz="2200" b="0" dirty="0">
                <a:solidFill>
                  <a:schemeClr val="bg1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200" b="0" dirty="0">
                <a:solidFill>
                  <a:schemeClr val="bg1"/>
                </a:solidFill>
                <a:latin typeface="Calibri"/>
              </a:rPr>
              <a:t>XYZ at 1 m:   </a:t>
            </a:r>
            <a:r>
              <a:rPr sz="2200" b="1" dirty="0">
                <a:solidFill>
                  <a:schemeClr val="bg1"/>
                </a:solidFill>
                <a:latin typeface="Calibri"/>
              </a:rPr>
              <a:t>111 mm</a:t>
            </a:r>
            <a:r>
              <a:rPr sz="2200" b="0" dirty="0">
                <a:solidFill>
                  <a:schemeClr val="bg1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200" b="0" dirty="0">
                <a:solidFill>
                  <a:schemeClr val="bg1"/>
                </a:solidFill>
                <a:latin typeface="Calibri"/>
              </a:rPr>
              <a:t>XYZ at 5 m:   </a:t>
            </a:r>
            <a:r>
              <a:rPr sz="2200" b="1" dirty="0">
                <a:solidFill>
                  <a:schemeClr val="bg1"/>
                </a:solidFill>
                <a:latin typeface="Calibri"/>
              </a:rPr>
              <a:t>2074 mm</a:t>
            </a:r>
            <a:r>
              <a:rPr sz="2200" b="0" dirty="0">
                <a:solidFill>
                  <a:schemeClr val="bg1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6.12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Reading the Rotation Figures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59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75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Each rotation figure is a 3 × 5 grid.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800" b="1" dirty="0">
                <a:solidFill>
                  <a:srgbClr val="FF0000"/>
                </a:solidFill>
                <a:latin typeface="Calibri"/>
              </a:rPr>
              <a:t>Rows:  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rotation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angles 0°, 90°, 180°.</a:t>
            </a:r>
          </a:p>
          <a:p>
            <a:pPr algn="l">
              <a:spcAft>
                <a:spcPts val="1000"/>
              </a:spcAft>
            </a:pPr>
            <a:r>
              <a:rPr sz="2800" b="1" dirty="0">
                <a:solidFill>
                  <a:srgbClr val="FF0000"/>
                </a:solidFill>
                <a:latin typeface="Calibri"/>
              </a:rPr>
              <a:t>Columns:   </a:t>
            </a:r>
            <a:r>
              <a:rPr sz="2800" b="0" dirty="0">
                <a:solidFill>
                  <a:srgbClr val="FF0000"/>
                </a:solidFill>
                <a:latin typeface="Calibri"/>
              </a:rPr>
              <a:t>prediction horizons 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(input, 80, 160, 320, 400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ms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).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800" b="1" dirty="0" err="1">
                <a:solidFill>
                  <a:schemeClr val="bg1"/>
                </a:solidFill>
                <a:latin typeface="Calibri"/>
              </a:rPr>
              <a:t>DQPose</a:t>
            </a:r>
            <a:r>
              <a:rPr sz="2800" b="1" dirty="0">
                <a:solidFill>
                  <a:schemeClr val="bg1"/>
                </a:solidFill>
                <a:latin typeface="Calibri"/>
              </a:rPr>
              <a:t> rows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 should look like </a:t>
            </a:r>
            <a:r>
              <a:rPr sz="2800" b="1" dirty="0">
                <a:solidFill>
                  <a:schemeClr val="bg1"/>
                </a:solidFill>
                <a:latin typeface="Calibri"/>
              </a:rPr>
              <a:t>rotated copies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 of the 0° prediction.</a:t>
            </a:r>
          </a:p>
          <a:p>
            <a:pPr algn="l">
              <a:spcAft>
                <a:spcPts val="1000"/>
              </a:spcAft>
            </a:pPr>
            <a:r>
              <a:rPr sz="2800" b="0" dirty="0">
                <a:solidFill>
                  <a:schemeClr val="bg1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800" b="1" dirty="0">
                <a:solidFill>
                  <a:schemeClr val="bg1"/>
                </a:solidFill>
                <a:latin typeface="Calibri"/>
              </a:rPr>
              <a:t>XYZ rows</a:t>
            </a:r>
            <a:r>
              <a:rPr sz="2800" b="0" dirty="0">
                <a:solidFill>
                  <a:schemeClr val="bg1"/>
                </a:solidFill>
                <a:latin typeface="Calibri"/>
              </a:rPr>
              <a:t> may show different prediction geometry.  The output changes when the same motion is expressed 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in a rotated frame.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6.13a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Rotation Walking: </a:t>
            </a:r>
            <a:r>
              <a:rPr sz="3600" b="1" dirty="0" err="1">
                <a:solidFill>
                  <a:srgbClr val="FF0000"/>
                </a:solidFill>
                <a:latin typeface="Calibri"/>
              </a:rPr>
              <a:t>DQPose</a:t>
            </a:r>
            <a:endParaRPr sz="36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60 / 81</a:t>
            </a:r>
          </a:p>
        </p:txBody>
      </p:sp>
      <p:pic>
        <p:nvPicPr>
          <p:cNvPr id="5" name="Picture 4" descr="rotation_fig_dq_wal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525" y="1188720"/>
            <a:ext cx="669447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760720"/>
            <a:ext cx="11064240" cy="682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FFFFFF"/>
                </a:solidFill>
                <a:latin typeface="Calibri"/>
              </a:rPr>
              <a:t>Three rows:  0°, 90°, 180° rotation.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chemeClr val="bg1"/>
                </a:solidFill>
                <a:latin typeface="Calibri"/>
              </a:rPr>
              <a:t>Predictions are 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rotated copies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 of the same skeleton.  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DQPose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MPJPE constant at </a:t>
            </a:r>
            <a:r>
              <a:rPr lang="en-US" sz="1800" b="1" dirty="0">
                <a:solidFill>
                  <a:srgbClr val="FF0000"/>
                </a:solidFill>
                <a:latin typeface="Calibri"/>
              </a:rPr>
              <a:t>32.4</a:t>
            </a:r>
            <a:r>
              <a:rPr sz="1800" b="1" dirty="0">
                <a:solidFill>
                  <a:srgbClr val="FF0000"/>
                </a:solidFill>
                <a:latin typeface="Calibri"/>
              </a:rPr>
              <a:t> mm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 across all angles.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6.13b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Rotation Walking: XYZ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61 / 81</a:t>
            </a:r>
          </a:p>
        </p:txBody>
      </p:sp>
      <p:pic>
        <p:nvPicPr>
          <p:cNvPr id="5" name="Picture 4" descr="rotation_fig_xyz_wal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525" y="1188720"/>
            <a:ext cx="669447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760720"/>
            <a:ext cx="11064240" cy="682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FFFFFF"/>
                </a:solidFill>
                <a:latin typeface="Calibri"/>
              </a:rPr>
              <a:t>Prediction geometry changes with the angle. 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XYZ degradatio</a:t>
            </a:r>
            <a:r>
              <a:rPr lang="en-US" sz="1800" b="0" dirty="0">
                <a:solidFill>
                  <a:srgbClr val="FF0000"/>
                </a:solidFill>
                <a:latin typeface="Calibri"/>
              </a:rPr>
              <a:t>n 24.3mm to 52 mm</a:t>
            </a:r>
            <a:endParaRPr sz="1800" b="0" dirty="0">
              <a:solidFill>
                <a:srgbClr val="FF0000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FFFFFF"/>
                </a:solidFill>
                <a:latin typeface="Calibri"/>
              </a:rPr>
              <a:t>Walking is strongly direction-dependent.  Direction is encoded in the Cartesian stream.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6.14a  Rotation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Running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sz="3600" b="1" dirty="0" err="1">
                <a:solidFill>
                  <a:srgbClr val="FF0000"/>
                </a:solidFill>
                <a:latin typeface="Calibri"/>
              </a:rPr>
              <a:t>DQPose</a:t>
            </a:r>
            <a:endParaRPr sz="36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62 / 81</a:t>
            </a:r>
          </a:p>
        </p:txBody>
      </p:sp>
      <p:pic>
        <p:nvPicPr>
          <p:cNvPr id="5" name="Picture 4" descr="rotation_fig_dq_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525" y="1188720"/>
            <a:ext cx="669447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6.14b  Rotation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Running: XYZ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63 / 81</a:t>
            </a:r>
          </a:p>
        </p:txBody>
      </p:sp>
      <p:pic>
        <p:nvPicPr>
          <p:cNvPr id="5" name="Picture 4" descr="rotation_fig_xyz_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525" y="1188720"/>
            <a:ext cx="669447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6.15a  Rotation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Jumping: </a:t>
            </a:r>
            <a:r>
              <a:rPr sz="3600" b="1" dirty="0" err="1">
                <a:solidFill>
                  <a:srgbClr val="FF0000"/>
                </a:solidFill>
                <a:latin typeface="Calibri"/>
              </a:rPr>
              <a:t>DQPose</a:t>
            </a:r>
            <a:endParaRPr sz="36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64 / 81</a:t>
            </a:r>
          </a:p>
        </p:txBody>
      </p:sp>
      <p:pic>
        <p:nvPicPr>
          <p:cNvPr id="5" name="Picture 4" descr="rotation_fig_dq_jum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525" y="1188720"/>
            <a:ext cx="669447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6.15b  Rotation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Jumping: XYZ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65 / 81</a:t>
            </a:r>
          </a:p>
        </p:txBody>
      </p:sp>
      <p:pic>
        <p:nvPicPr>
          <p:cNvPr id="5" name="Picture 4" descr="rotation_fig_xyz_jum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354" y="1188720"/>
            <a:ext cx="676281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6.16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Equivariance Overlay: </a:t>
            </a:r>
            <a:r>
              <a:rPr sz="3600" b="1" dirty="0" err="1">
                <a:solidFill>
                  <a:srgbClr val="FF0000"/>
                </a:solidFill>
                <a:latin typeface="Calibri"/>
              </a:rPr>
              <a:t>Δ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 and Divergence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66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459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Diagnostic. 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For each sequence: apply rotations of 0°, 90°, 180° to the input. Predict in the rotated frame.  Map predictions back to the original frame by applying the inverse rotation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 For an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equivariant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model the three mapped-back predictions </a:t>
            </a:r>
            <a:r>
              <a:rPr sz="2000" b="1" dirty="0">
                <a:solidFill>
                  <a:srgbClr val="FF0000"/>
                </a:solidFill>
                <a:latin typeface="Calibri"/>
              </a:rPr>
              <a:t>coincide exactly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FF0000"/>
                </a:solidFill>
                <a:latin typeface="Calibri"/>
              </a:rPr>
              <a:t>Δ</a:t>
            </a:r>
            <a:r>
              <a:rPr sz="2000" b="1" dirty="0">
                <a:solidFill>
                  <a:srgbClr val="FF0000"/>
                </a:solidFill>
                <a:latin typeface="Calibri"/>
              </a:rPr>
              <a:t> MPJPE. 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Change in MPJPE under the rotation, measured against ground truth.  </a:t>
            </a:r>
            <a:r>
              <a:rPr sz="2000" b="0" dirty="0" err="1">
                <a:solidFill>
                  <a:srgbClr val="FF0000"/>
                </a:solidFill>
                <a:latin typeface="Calibri"/>
              </a:rPr>
              <a:t>DQPose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: </a:t>
            </a:r>
            <a:r>
              <a:rPr sz="2000" b="0" dirty="0" err="1">
                <a:solidFill>
                  <a:srgbClr val="FF0000"/>
                </a:solidFill>
                <a:latin typeface="Calibri"/>
              </a:rPr>
              <a:t>Δ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 = 0.  XYZ: </a:t>
            </a:r>
            <a:r>
              <a:rPr sz="2000" b="0" dirty="0" err="1">
                <a:solidFill>
                  <a:srgbClr val="FF0000"/>
                </a:solidFill>
                <a:latin typeface="Calibri"/>
              </a:rPr>
              <a:t>Δ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 &gt; 0 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when the prediction degrades.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rgbClr val="FF0000"/>
                </a:solidFill>
                <a:latin typeface="Calibri"/>
              </a:rPr>
              <a:t>Divergence. 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Mean per-joint distance between the 0° prediction and the inverse-mapped rotated prediction.</a:t>
            </a: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chemeClr val="bg1"/>
                </a:solidFill>
                <a:latin typeface="Calibri"/>
              </a:rPr>
              <a:t>Low divergence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:  the model produced the same physical motion in a different frame.</a:t>
            </a:r>
          </a:p>
          <a:p>
            <a:pPr algn="l">
              <a:spcAft>
                <a:spcPts val="1000"/>
              </a:spcAft>
            </a:pPr>
            <a:r>
              <a:rPr sz="2000" b="1" dirty="0">
                <a:solidFill>
                  <a:schemeClr val="bg1"/>
                </a:solidFill>
                <a:latin typeface="Calibri"/>
              </a:rPr>
              <a:t>High divergence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:  the 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prediction itself changed, not only its coordinates.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</a:rPr>
              <a:t>Why both?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 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MPJPE alone can hide which way the prediction changed.  Divergence directly tests prediction geometry.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6.17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Equivariance: Running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 (Figure)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67 / 81</a:t>
            </a:r>
          </a:p>
        </p:txBody>
      </p:sp>
      <p:pic>
        <p:nvPicPr>
          <p:cNvPr id="5" name="Picture 4" descr="equivariance_fig_both_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014" y="1188720"/>
            <a:ext cx="5453491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760720"/>
            <a:ext cx="11064240" cy="6206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dirty="0" err="1">
                <a:solidFill>
                  <a:srgbClr val="FF0000"/>
                </a:solidFill>
                <a:latin typeface="Calibri"/>
              </a:rPr>
              <a:t>DQPose</a:t>
            </a:r>
            <a:r>
              <a:rPr sz="1600" b="1" dirty="0">
                <a:solidFill>
                  <a:srgbClr val="FF0000"/>
                </a:solidFill>
                <a:latin typeface="Calibri"/>
              </a:rPr>
              <a:t> (top):   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three mapped-back </a:t>
            </a:r>
            <a:r>
              <a:rPr sz="1600" b="0" dirty="0">
                <a:solidFill>
                  <a:srgbClr val="FF0000"/>
                </a:solidFill>
                <a:latin typeface="Calibri"/>
              </a:rPr>
              <a:t>predictions overlap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to numerical precision.  Divergence near 0.</a:t>
            </a:r>
          </a:p>
          <a:p>
            <a:pPr algn="l">
              <a:spcAft>
                <a:spcPts val="1000"/>
              </a:spcAft>
            </a:pPr>
            <a:r>
              <a:rPr sz="1600" b="1" dirty="0">
                <a:solidFill>
                  <a:srgbClr val="FF0000"/>
                </a:solidFill>
                <a:latin typeface="Calibri"/>
              </a:rPr>
              <a:t>XYZ (bottom):   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visible </a:t>
            </a:r>
            <a:r>
              <a:rPr sz="1600" b="0" dirty="0">
                <a:solidFill>
                  <a:srgbClr val="FF0000"/>
                </a:solidFill>
                <a:latin typeface="Calibri"/>
              </a:rPr>
              <a:t>divergence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.  Mapped-back predictions are geometrically different poses.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chemeClr val="bg2"/>
                </a:solidFill>
                <a:latin typeface="Calibri"/>
              </a:rPr>
              <a:t>6.18  Equivariance: Running (Video)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68 / 81</a:t>
            </a:r>
          </a:p>
        </p:txBody>
      </p:sp>
      <p:pic>
        <p:nvPicPr>
          <p:cNvPr id="5" name="equivariance_vid_both_running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09017" y="940892"/>
            <a:ext cx="6394950" cy="43062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6.19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Equivariance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Jumping (Figure)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69 / 81</a:t>
            </a:r>
          </a:p>
        </p:txBody>
      </p:sp>
      <p:pic>
        <p:nvPicPr>
          <p:cNvPr id="5" name="Picture 4" descr="equivariance_fig_both_jum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218" y="1188720"/>
            <a:ext cx="544908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6.20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Equivariance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Jumping (Video)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70 / 81</a:t>
            </a:r>
          </a:p>
        </p:txBody>
      </p:sp>
      <p:pic>
        <p:nvPicPr>
          <p:cNvPr id="5" name="equivariance_vid_both_jumping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23847" y="1188720"/>
            <a:ext cx="914400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6.21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Per-Action Robustness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71 / 81</a:t>
            </a:r>
          </a:p>
        </p:txBody>
      </p:sp>
      <p:pic>
        <p:nvPicPr>
          <p:cNvPr id="5" name="Picture 4" descr="robustness_per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71355"/>
            <a:ext cx="7315200" cy="34639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371600"/>
            <a:ext cx="3840480" cy="26673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dirty="0" err="1">
                <a:solidFill>
                  <a:srgbClr val="FF0000"/>
                </a:solidFill>
                <a:latin typeface="Calibri"/>
              </a:rPr>
              <a:t>DQPose</a:t>
            </a:r>
            <a:r>
              <a:rPr sz="2000" b="1" dirty="0">
                <a:solidFill>
                  <a:srgbClr val="FF0000"/>
                </a:solidFill>
                <a:latin typeface="Calibri"/>
              </a:rPr>
              <a:t>:  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flat bar on every action.   </a:t>
            </a:r>
            <a:r>
              <a:rPr sz="2000" b="1" dirty="0">
                <a:solidFill>
                  <a:srgbClr val="FF0000"/>
                </a:solidFill>
                <a:latin typeface="Calibri"/>
              </a:rPr>
              <a:t>0% change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</a:rPr>
              <a:t>XYZ:</a:t>
            </a:r>
            <a:r>
              <a:rPr lang="en-CY" sz="2000" b="1" dirty="0">
                <a:solidFill>
                  <a:srgbClr val="FF0000"/>
                </a:solidFill>
                <a:latin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</a:rPr>
              <a:t>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action-dependent.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</a:rPr>
              <a:t>Largest:</a:t>
            </a:r>
            <a:r>
              <a:rPr lang="en-US" sz="2000" b="1" dirty="0">
                <a:solidFill>
                  <a:srgbClr val="FF0000"/>
                </a:solidFill>
                <a:latin typeface="Calibri"/>
              </a:rPr>
              <a:t> 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walking </a:t>
            </a:r>
            <a:r>
              <a:rPr sz="2000" b="1" dirty="0">
                <a:solidFill>
                  <a:srgbClr val="FF0000"/>
                </a:solidFill>
                <a:latin typeface="Calibri"/>
              </a:rPr>
              <a:t>+94%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,  running </a:t>
            </a:r>
            <a:r>
              <a:rPr sz="2000" b="1" dirty="0">
                <a:solidFill>
                  <a:srgbClr val="FF0000"/>
                </a:solidFill>
                <a:latin typeface="Calibri"/>
              </a:rPr>
              <a:t>+81%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</a:rPr>
              <a:t>Smallest:</a:t>
            </a:r>
            <a:r>
              <a:rPr lang="en-US" sz="2000" b="1" dirty="0">
                <a:solidFill>
                  <a:srgbClr val="FF0000"/>
                </a:solidFill>
                <a:latin typeface="Calibri"/>
              </a:rPr>
              <a:t> 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jumping </a:t>
            </a:r>
            <a:r>
              <a:rPr sz="2000" b="1" dirty="0">
                <a:solidFill>
                  <a:srgbClr val="FF0000"/>
                </a:solidFill>
                <a:latin typeface="Calibri"/>
              </a:rPr>
              <a:t>+8%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Average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:   </a:t>
            </a:r>
            <a:r>
              <a:rPr sz="2000" b="1" dirty="0">
                <a:solidFill>
                  <a:srgbClr val="FF0000"/>
                </a:solidFill>
                <a:latin typeface="Calibri"/>
              </a:rPr>
              <a:t>+35%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6.22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Per-Action Robustness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72 / 81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0000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  <a:latin typeface="Calibri"/>
                        </a:rPr>
                        <a:t>DQ 0°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  <a:latin typeface="Calibri"/>
                        </a:rPr>
                        <a:t>DQ 90°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  <a:latin typeface="Calibri"/>
                        </a:rPr>
                        <a:t>XYZ 0°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  <a:latin typeface="Calibri"/>
                        </a:rPr>
                        <a:t>XYZ 90°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  <a:latin typeface="Calibri"/>
                        </a:rPr>
                        <a:t>Δ XYZ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basketball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54.9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54.9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46.6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58.7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+26%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basketball signal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15.0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15.0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13.3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18.1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+36%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directing traffic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34.6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34.6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29.5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37.0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+25%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jumping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75.4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75.4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72.5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78.0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  <a:latin typeface="Calibri"/>
                        </a:rPr>
                        <a:t>+8%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running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41.9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41.9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31.3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56.7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  <a:latin typeface="Calibri"/>
                        </a:rPr>
                        <a:t>+81%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soccer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53.8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53.8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42.8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57.9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+35%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walking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26.1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26.1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18.2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35.3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  <a:latin typeface="Calibri"/>
                        </a:rPr>
                        <a:t>+94%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washwindow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33.1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33.1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28.3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40.4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+43%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0000"/>
                          </a:solidFill>
                          <a:latin typeface="Calibri"/>
                        </a:rPr>
                        <a:t>Average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  <a:latin typeface="Calibri"/>
                        </a:rPr>
                        <a:t>41.8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  <a:latin typeface="Calibri"/>
                        </a:rPr>
                        <a:t>41.8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  <a:latin typeface="Calibri"/>
                        </a:rPr>
                        <a:t>35.3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  <a:latin typeface="Calibri"/>
                        </a:rPr>
                        <a:t>47.8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  <a:latin typeface="Calibri"/>
                        </a:rPr>
                        <a:t>+35%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73 / 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3657600" cy="3200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000" b="1">
                <a:solidFill>
                  <a:srgbClr val="FF0000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3013055"/>
            <a:ext cx="640080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1" dirty="0">
                <a:solidFill>
                  <a:srgbClr val="FF0000"/>
                </a:solidFill>
                <a:latin typeface="Calibri"/>
              </a:rPr>
              <a:t>Discussion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7.1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Interpretation of the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74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334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lang="en-US" sz="2400" b="1" dirty="0">
                <a:solidFill>
                  <a:srgbClr val="FF0000"/>
                </a:solidFill>
                <a:latin typeface="Calibri"/>
              </a:rPr>
              <a:t>1.) Accuracy: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400 </a:t>
            </a:r>
            <a:r>
              <a:rPr sz="2400" b="1" dirty="0" err="1">
                <a:solidFill>
                  <a:srgbClr val="FF0000"/>
                </a:solidFill>
                <a:latin typeface="Calibri"/>
              </a:rPr>
              <a:t>ms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 controlled comparison.  </a:t>
            </a:r>
            <a:r>
              <a:rPr sz="2400" b="0" dirty="0" err="1">
                <a:solidFill>
                  <a:srgbClr val="FF0000"/>
                </a:solidFill>
                <a:latin typeface="Calibri"/>
              </a:rPr>
              <a:t>GGMotion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-XYZ at 35.3 mm.  </a:t>
            </a:r>
            <a:r>
              <a:rPr sz="2400" b="0" dirty="0" err="1">
                <a:solidFill>
                  <a:srgbClr val="FF0000"/>
                </a:solidFill>
                <a:latin typeface="Calibri"/>
              </a:rPr>
              <a:t>GGMotion-DQPose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 at 41.8 mm. </a:t>
            </a:r>
            <a:endParaRPr lang="en-US" sz="2400" b="0" dirty="0">
              <a:solidFill>
                <a:srgbClr val="FF0000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lang="en-CY" sz="2400" dirty="0">
                <a:solidFill>
                  <a:srgbClr val="FFFFFF"/>
                </a:solidFill>
                <a:latin typeface="Calibri"/>
              </a:rPr>
              <a:t>The </a:t>
            </a:r>
            <a:r>
              <a:rPr lang="en-CY" sz="2400" dirty="0">
                <a:solidFill>
                  <a:srgbClr val="FF0000"/>
                </a:solidFill>
                <a:latin typeface="Calibri"/>
              </a:rPr>
              <a:t>accuracy gap </a:t>
            </a:r>
            <a:r>
              <a:rPr lang="en-CY" sz="2400" dirty="0">
                <a:solidFill>
                  <a:srgbClr val="FFFFFF"/>
                </a:solidFill>
                <a:latin typeface="Calibri"/>
              </a:rPr>
              <a:t>could mean </a:t>
            </a:r>
            <a:r>
              <a:rPr lang="en-CY" sz="2400" dirty="0">
                <a:solidFill>
                  <a:srgbClr val="FF0000"/>
                </a:solidFill>
                <a:latin typeface="Calibri"/>
              </a:rPr>
              <a:t>DQPose is harder to optimize, </a:t>
            </a:r>
            <a:r>
              <a:rPr lang="en-CY" sz="2400" dirty="0">
                <a:solidFill>
                  <a:srgbClr val="FFFFFF"/>
                </a:solidFill>
                <a:latin typeface="Calibri"/>
              </a:rPr>
              <a:t>or that </a:t>
            </a:r>
            <a:r>
              <a:rPr lang="en-CY" sz="2400" dirty="0">
                <a:solidFill>
                  <a:srgbClr val="FF0000"/>
                </a:solidFill>
                <a:latin typeface="Calibri"/>
              </a:rPr>
              <a:t>pose-DQ is the wrong inductive bias for a position metric.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FF0000"/>
                </a:solidFill>
                <a:latin typeface="Calibri"/>
              </a:rPr>
              <a:t>XYZ predicts </a:t>
            </a:r>
            <a:r>
              <a:rPr lang="en-US" sz="2400" b="0" dirty="0">
                <a:solidFill>
                  <a:srgbClr val="FF0000"/>
                </a:solidFill>
                <a:latin typeface="Calibri"/>
              </a:rPr>
              <a:t>directly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the quantity scored by the dominant loss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.  </a:t>
            </a:r>
            <a:r>
              <a:rPr sz="2400" b="0" dirty="0" err="1">
                <a:solidFill>
                  <a:srgbClr val="FF0000"/>
                </a:solidFill>
                <a:latin typeface="Calibri"/>
              </a:rPr>
              <a:t>DQPose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 must learn through FK pose DQs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, log coordinates, exp decoding, reference composition.</a:t>
            </a:r>
          </a:p>
          <a:p>
            <a:pPr algn="l">
              <a:spcAft>
                <a:spcPts val="1000"/>
              </a:spcAft>
            </a:pPr>
            <a:r>
              <a:rPr lang="en-US" sz="2400" b="1" dirty="0">
                <a:solidFill>
                  <a:srgbClr val="FF0000"/>
                </a:solidFill>
                <a:latin typeface="Calibri"/>
              </a:rPr>
              <a:t>2.)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robustness result is the reason </a:t>
            </a:r>
            <a:r>
              <a:rPr sz="2400" b="1" dirty="0" err="1">
                <a:solidFill>
                  <a:srgbClr val="FF0000"/>
                </a:solidFill>
                <a:latin typeface="Calibri"/>
              </a:rPr>
              <a:t>DQPose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 is scientifically useful. 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Under SE(3) frame change, </a:t>
            </a:r>
            <a:r>
              <a:rPr sz="2400" b="0" dirty="0" err="1">
                <a:solidFill>
                  <a:srgbClr val="FF0000"/>
                </a:solidFill>
                <a:latin typeface="Calibri"/>
              </a:rPr>
              <a:t>DQPose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 stays constant.  XYZ degrades.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This is </a:t>
            </a:r>
            <a:r>
              <a:rPr sz="2400" b="0" dirty="0">
                <a:solidFill>
                  <a:schemeClr val="bg1"/>
                </a:solidFill>
                <a:latin typeface="Calibri"/>
              </a:rPr>
              <a:t>not </a:t>
            </a:r>
            <a:r>
              <a:rPr sz="2400" b="1" dirty="0">
                <a:solidFill>
                  <a:schemeClr val="bg1"/>
                </a:solidFill>
                <a:latin typeface="Calibri"/>
              </a:rPr>
              <a:t>DQ beats XYZ</a:t>
            </a:r>
            <a:r>
              <a:rPr sz="2400" b="0" dirty="0">
                <a:solidFill>
                  <a:schemeClr val="bg1"/>
                </a:solidFill>
                <a:latin typeface="Calibri"/>
              </a:rPr>
              <a:t> in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the benchmark sense.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It is a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measured representation tradeoff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7.2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SE(3) by Construction vs Alternatives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75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4078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FF0000"/>
                </a:solidFill>
                <a:latin typeface="Calibri"/>
              </a:rPr>
              <a:t>Data augmentation.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Random rotations and translations during training. 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Function class still free to fit the symmetry approximately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.  Continuous-group coverage never complete.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Spends capacity on a property that can be enforced algebraically.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Centroid subtraction. 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Removes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some absolute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translation dependence.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 Does not guarantee SE(3) equivariance through the full layer stack. 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GGMotion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-XYZ uses centroid subtraction yet still degrades under translation.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>
                <a:solidFill>
                  <a:schemeClr val="bg1"/>
                </a:solidFill>
                <a:latin typeface="Calibri"/>
              </a:rPr>
              <a:t>Learned invariance.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Published CMU baselines evaluated only in the dataset frame.  May learn accidental robustness, but it is unmeasured unless perturbation tests are run.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Architectural equivariance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is the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only option that gives a guarantee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outside the sampled training frames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7.3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Limitations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 of the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76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45756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FF0000"/>
                </a:solidFill>
                <a:latin typeface="Calibri"/>
              </a:rPr>
              <a:t>Accuracy gap of 6.5 mm.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Largest limitation. 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DQPose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trails XYZ on canonical MPJPE under this backbone and loss.  Contribution is robustness and representation analysis.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Single benchmark.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CMU 8-action only.  Human3.6M not evaluated.  The equivariance proof is architectural; the accuracy tradeoff may change with dataset size, joint topology, action diversity.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Backbone-preserving design. 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Staying close to </a:t>
            </a:r>
            <a:r>
              <a:rPr sz="2400" b="0" dirty="0" err="1">
                <a:solidFill>
                  <a:srgbClr val="FF0000"/>
                </a:solidFill>
                <a:latin typeface="Calibri"/>
              </a:rPr>
              <a:t>GGMotion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 keeps the comparison clean.  May underuse the DQ representation.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Position-based benchmark pressure.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MPJPE is the dominant pressure.  Necessary for comparability.  May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not be the loss that best exploits pose dual quaternions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Short-term deterministic setting.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Predicts a fixed 10-frame future.  SE(3) property would still be desirable for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longer or stochastic settings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but is not measured there.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7.4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Broader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77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078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A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geometrically correct representation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can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change what a model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guarantees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, even when it does not improve the canonical benchmark number.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Coordinate frame arbitrary or changing between sensors. 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DQPose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property matters.  Same motion in a different frame produces the correspondingly transformed prediction.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>
                <a:solidFill>
                  <a:schemeClr val="bg1"/>
                </a:solidFill>
                <a:latin typeface="Calibri"/>
              </a:rPr>
              <a:t>Evaluation frame fixed, canonical MPJPE the only objective.  </a:t>
            </a:r>
            <a:r>
              <a:rPr sz="2400" b="0" dirty="0">
                <a:solidFill>
                  <a:schemeClr val="bg1"/>
                </a:solidFill>
                <a:latin typeface="Calibri"/>
              </a:rPr>
              <a:t>Cartesian baseline is the better choice.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Useful beyond motion prediction. </a:t>
            </a:r>
            <a:r>
              <a:rPr lang="en-CY" sz="2400" dirty="0">
                <a:solidFill>
                  <a:srgbClr val="FFFFFF"/>
                </a:solidFill>
                <a:latin typeface="Calibri"/>
              </a:rPr>
              <a:t>Many real systems, </a:t>
            </a:r>
            <a:r>
              <a:rPr lang="en-CY" sz="2400" dirty="0">
                <a:solidFill>
                  <a:srgbClr val="FF0000"/>
                </a:solidFill>
                <a:latin typeface="Calibri"/>
              </a:rPr>
              <a:t>robots</a:t>
            </a:r>
            <a:r>
              <a:rPr lang="en-CY" sz="2400" dirty="0">
                <a:solidFill>
                  <a:srgbClr val="FFFFFF"/>
                </a:solidFill>
                <a:latin typeface="Calibri"/>
              </a:rPr>
              <a:t>, tools, and rigid mechanical parts, are naturally described by position + orientation, not just XYZ points.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Building the symmetry into the representation removes a class of errors that data alone may not eliminate.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78 / 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3657600" cy="3200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000" b="1">
                <a:solidFill>
                  <a:srgbClr val="FF0000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3013055"/>
            <a:ext cx="640080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1" dirty="0">
                <a:solidFill>
                  <a:srgbClr val="FF0000"/>
                </a:solidFill>
                <a:latin typeface="Calibri"/>
              </a:rPr>
              <a:t>Conclusion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8.1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Summary of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79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078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FF0000"/>
                </a:solidFill>
                <a:latin typeface="Calibri"/>
              </a:rPr>
              <a:t>1.   </a:t>
            </a:r>
            <a:r>
              <a:rPr sz="2400" b="1" dirty="0">
                <a:solidFill>
                  <a:schemeClr val="bg1"/>
                </a:solidFill>
                <a:latin typeface="Calibri"/>
              </a:rPr>
              <a:t>Faithful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0000"/>
                </a:solidFill>
                <a:latin typeface="Calibri"/>
              </a:rPr>
              <a:t>GGMotion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-XYZ reproduction.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35.3 mm at 400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ms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, within 0.6 mm of the published 34.7 mm.  Strong controlled baseline.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2.   </a:t>
            </a:r>
            <a:r>
              <a:rPr sz="2400" b="1" dirty="0" err="1">
                <a:solidFill>
                  <a:srgbClr val="FF0000"/>
                </a:solidFill>
                <a:latin typeface="Calibri"/>
              </a:rPr>
              <a:t>GGMotion-DQPose</a:t>
            </a:r>
            <a:r>
              <a:rPr sz="2400" b="1" dirty="0">
                <a:solidFill>
                  <a:schemeClr val="bg1"/>
                </a:solidFill>
                <a:latin typeface="Calibri"/>
              </a:rPr>
              <a:t>: a DQ-native counterpart.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FK-derived pose DQs, reference-pose-relative se(3) log coordinates, original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GGMotion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spatio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-temporal pattern, DQ decoding before position loss.  41.8 mm at 400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ms.</a:t>
            </a:r>
            <a:endParaRPr sz="2400" b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3.   Robustness measurement.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Under held-out test-time rotations up to 180° and translations up to 5 m,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DQPose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stays constant.  XYZ rises to 47.8 mm under rotation and 2074 mm under 5 m translation.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</a:rPr>
              <a:t>Contribution.  </a:t>
            </a:r>
            <a:r>
              <a:rPr sz="2400" b="0" dirty="0">
                <a:solidFill>
                  <a:srgbClr val="FF0000"/>
                </a:solidFill>
                <a:latin typeface="Calibri"/>
              </a:rPr>
              <a:t>A measured accuracy-robustness tradeoff with a clear algebraic mechanism.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8.2 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80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2111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FF0000"/>
                </a:solidFill>
                <a:latin typeface="Calibri"/>
              </a:rPr>
              <a:t>Representation-aware loss design.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Balance decoded positions, pose geodesics, angular and translational velocity, bone structure without letting any term dominate.  Possible path to closing the 6.5 mm gap.</a:t>
            </a: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FF0000"/>
                </a:solidFill>
                <a:latin typeface="Calibri"/>
              </a:rPr>
              <a:t>Broader benchmarks.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Human3.6M is the immediate next step.  SE(3) proof transfers.  Tradeoff must be measured.</a:t>
            </a:r>
            <a:endParaRPr lang="en-US" sz="2400" b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lang="en-CY" sz="2400" dirty="0">
                <a:solidFill>
                  <a:srgbClr val="FF0000"/>
                </a:solidFill>
                <a:latin typeface="Calibri"/>
              </a:rPr>
              <a:t>Stochastic and long-horizon prediction</a:t>
            </a:r>
            <a:r>
              <a:rPr lang="en-CY" sz="2400" dirty="0">
                <a:solidFill>
                  <a:srgbClr val="FFFFFF"/>
                </a:solidFill>
                <a:latin typeface="Calibri"/>
              </a:rPr>
              <a:t>. Extend GGMotion-DQPose to longer futures and stochastic models (e.g. </a:t>
            </a:r>
            <a:r>
              <a:rPr lang="en-CY" sz="2400" dirty="0">
                <a:solidFill>
                  <a:srgbClr val="FF0000"/>
                </a:solidFill>
                <a:latin typeface="Calibri"/>
              </a:rPr>
              <a:t>diffusion</a:t>
            </a:r>
            <a:r>
              <a:rPr lang="en-CY" sz="2400" dirty="0">
                <a:solidFill>
                  <a:srgbClr val="FFFFFF"/>
                </a:solidFill>
                <a:latin typeface="Calibri"/>
              </a:rPr>
              <a:t>), with noise defined on the DQ manifold via exp/log rather than unconstrained XYZ.</a:t>
            </a:r>
            <a:endParaRPr sz="240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8.3  A </a:t>
            </a:r>
            <a:r>
              <a:rPr sz="3600" b="1" dirty="0">
                <a:solidFill>
                  <a:srgbClr val="FF0000"/>
                </a:solidFill>
                <a:latin typeface="Calibri"/>
              </a:rPr>
              <a:t>Measured Representation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81 /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37959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dirty="0" err="1">
                <a:solidFill>
                  <a:srgbClr val="FF0000"/>
                </a:solidFill>
                <a:latin typeface="Calibri"/>
              </a:rPr>
              <a:t>GGMotion</a:t>
            </a:r>
            <a:r>
              <a:rPr sz="1800" b="1" dirty="0">
                <a:solidFill>
                  <a:srgbClr val="FF0000"/>
                </a:solidFill>
                <a:latin typeface="Calibri"/>
              </a:rPr>
              <a:t>-XYZ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FF0000"/>
                </a:solidFill>
                <a:latin typeface="Calibri"/>
              </a:rPr>
              <a:t>Canonical 400 </a:t>
            </a:r>
            <a:r>
              <a:rPr sz="1800" b="0" dirty="0" err="1">
                <a:solidFill>
                  <a:srgbClr val="FF0000"/>
                </a:solidFill>
                <a:latin typeface="Calibri"/>
              </a:rPr>
              <a:t>ms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:   </a:t>
            </a:r>
            <a:r>
              <a:rPr sz="1800" b="1" dirty="0">
                <a:solidFill>
                  <a:srgbClr val="FF0000"/>
                </a:solidFill>
                <a:latin typeface="Calibri"/>
              </a:rPr>
              <a:t>35.3 mm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FF0000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FF0000"/>
                </a:solidFill>
                <a:latin typeface="Calibri"/>
              </a:rPr>
              <a:t>Under 90° rotation:   </a:t>
            </a:r>
            <a:r>
              <a:rPr sz="1800" b="1" dirty="0">
                <a:solidFill>
                  <a:srgbClr val="FF0000"/>
                </a:solidFill>
                <a:latin typeface="Calibri"/>
              </a:rPr>
              <a:t>47.8 mm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    (+35%)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FF0000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FF0000"/>
                </a:solidFill>
                <a:latin typeface="Calibri"/>
              </a:rPr>
              <a:t>Under 5 m translation:   </a:t>
            </a:r>
            <a:r>
              <a:rPr sz="1800" b="1" dirty="0">
                <a:solidFill>
                  <a:srgbClr val="FF0000"/>
                </a:solidFill>
                <a:latin typeface="Calibri"/>
              </a:rPr>
              <a:t>2074 mm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FFFFFF"/>
                </a:solidFill>
                <a:latin typeface="Calibri"/>
              </a:rPr>
              <a:t>Frame-dependent.  Function tied to the dataset coordinate frame.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486400" cy="37959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dirty="0" err="1">
                <a:solidFill>
                  <a:srgbClr val="FF0000"/>
                </a:solidFill>
                <a:latin typeface="Calibri"/>
              </a:rPr>
              <a:t>GGMotion-DQPose</a:t>
            </a:r>
            <a:endParaRPr sz="1800" b="1" dirty="0">
              <a:solidFill>
                <a:srgbClr val="FF0000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FF0000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FF0000"/>
                </a:solidFill>
                <a:latin typeface="Calibri"/>
              </a:rPr>
              <a:t>Canonical 400 </a:t>
            </a:r>
            <a:r>
              <a:rPr sz="1800" b="0" dirty="0" err="1">
                <a:solidFill>
                  <a:srgbClr val="FF0000"/>
                </a:solidFill>
                <a:latin typeface="Calibri"/>
              </a:rPr>
              <a:t>ms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:   </a:t>
            </a:r>
            <a:r>
              <a:rPr sz="1800" b="1" dirty="0">
                <a:solidFill>
                  <a:srgbClr val="FF0000"/>
                </a:solidFill>
                <a:latin typeface="Calibri"/>
              </a:rPr>
              <a:t>41.8 mm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    (6.5 mm behind)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FF0000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FF0000"/>
                </a:solidFill>
                <a:latin typeface="Calibri"/>
              </a:rPr>
              <a:t>Under 90° rotation:   </a:t>
            </a:r>
            <a:r>
              <a:rPr sz="1800" b="1" dirty="0">
                <a:solidFill>
                  <a:srgbClr val="FF0000"/>
                </a:solidFill>
                <a:latin typeface="Calibri"/>
              </a:rPr>
              <a:t>41.8 mm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    (0%)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FF0000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FF0000"/>
                </a:solidFill>
                <a:latin typeface="Calibri"/>
              </a:rPr>
              <a:t>Under 5 m translation:   </a:t>
            </a:r>
            <a:r>
              <a:rPr sz="1800" b="1" dirty="0">
                <a:solidFill>
                  <a:srgbClr val="FF0000"/>
                </a:solidFill>
                <a:latin typeface="Calibri"/>
              </a:rPr>
              <a:t>41.8 mm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    (0%)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FFFFFF"/>
                </a:solidFill>
                <a:latin typeface="Calibri"/>
              </a:rPr>
              <a:t>Frame-independent.  SE(3) frame change cancels algebraically before the backbone.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10642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 dirty="0">
                <a:solidFill>
                  <a:schemeClr val="bg1"/>
                </a:solidFill>
                <a:latin typeface="Calibri"/>
              </a:rPr>
              <a:t>Contribution.  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A 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DQ-native counterpart with an empirical accuracy-robustness tradeoff and a clear </a:t>
            </a:r>
            <a:r>
              <a:rPr sz="1800" b="0" dirty="0">
                <a:solidFill>
                  <a:srgbClr val="FF0000"/>
                </a:solidFill>
                <a:latin typeface="Calibri"/>
              </a:rPr>
              <a:t>algebraic mechanism.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FF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6670</Words>
  <Application>Microsoft Macintosh PowerPoint</Application>
  <PresentationFormat>Widescreen</PresentationFormat>
  <Paragraphs>768</Paragraphs>
  <Slides>81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Chrysis Andreou</cp:lastModifiedBy>
  <cp:revision>82</cp:revision>
  <dcterms:created xsi:type="dcterms:W3CDTF">2013-01-27T09:14:16Z</dcterms:created>
  <dcterms:modified xsi:type="dcterms:W3CDTF">2026-05-24T23:35:11Z</dcterms:modified>
  <cp:category/>
</cp:coreProperties>
</file>